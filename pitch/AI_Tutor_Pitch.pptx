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mission, not the tech. EduConnect AI Tutor is a public-good tutor that reaches every learner in South Africa — smartphone or feature phone, any of the 11 official languages. The two device mockups are placeholders; final version replaces them with real photos of SA learners using the app. Powered by Dell AI Factory. Zero-rated on Vodacom. CAPS-aligned.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equity story. EduConnect AI Tutor is a CAPS-aligned multilingual tutor that meets every learner — smartphone or feature phone — where they are. Powered by Dell AI Factory. Zero-rated on Vodacom.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gap: tutoring works, but it's only available to learners who can afford it. Generic AI gives answers, which is worse than no help — kids hand in homework they didn't learn from. We need a tutor that's free, in their language, on whatever phone they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brain serves both channels. Pedagogy is identical. CAPS scaffolding is identical. The only difference is the UI surface — rich on WhatsApp, text-only on USSD. The architecture lets us flip providers (mock to real Dell LLM, mock WhatsApp to Meta Cloud API) with a single env-var change. No code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green-underlined block is what Meta AI cannot claim: sovereign data, deterministic maths grounding, curriculum-bounded scope. The knowledge base is publicly sourceable — no proprietary AI, no black box, no data leaving the country.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EduConnect demo you'll record. Six screens, one continuous flow, real NSC content, no answers given away, mark-scheme-authentic. When an executive asks 'is this real?' — this is the slide you point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GPT-OSS 120B is OpenAI's open-weight family — same architectural bet as the Llama choice: open-weight, Apache 2.0, self-hostable on Dell. Groq is our pilot host (free tier). Dell AI Factory NIM is our production host. Same API contract on both sides — swap via one env var. The RAW model isn't CAPS-aligned by itself — the next slide shows how we wrap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judges remember. Four layers, additive not exclusive. Layer 1 (green, foundation) is LIVE today — every LLM call is prefixed with ~4.4 KB of CAPS conventions. Layer 2 is 3-5 hours of work. Layer 3 (RAG over DBE CAPS PDF) is what Dell sponsorship unlocks. Layer 4 (LoRA fine-tune on Dell hardware) is the long-term moat. The right column shows the concrete before/after so non-technical judges can see the difference — a raw LLM gives an American-decimal answer; the CAPS-wrapped version has NSC mark codes, exact form (x = -½ not -0.5), and cites the CAPS topic. That's un-replicable by a Groq or ChatGPT wrapper.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request path in production. Green = deterministic guarantees, orange = channel-specific, panel-grey = generic infrastructure. The 5-pill router row is the KEY design decision: not everything hits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moats. The strongest two: USSD reach (literal, measurable) and CAPS-aligned + sovereign hosting (institutional procurement). Meta cannot replicate USSD without rebuilding their stack. They cannot replicate CAPS without years of SA pedagogical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oversell. Hattie meta-analysis is real; tutoring uplifts; we are a force multiplier for motivated learners with access to a teacher. We will measure and publish quarterly impact. Honesty here is what separates a serious public-good service from another tech 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personas. Thandi is the WhatsApp learner — has a smartphone, limited data, needs zero-rating. Lethabo is the USSD learner — feature phone, no other path to AI tutoring exists. Both are real archetypes covering the under-resourced 75% of SA learners.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pillars, concrete commitments under each. The closing line is the most important: judges expect a freemium model. Saying out loud that we refuse it is what makes a sponsor know this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phases, six months apart. Pilot is the make-or-break: 5 schools, 2 provinces, real LLM, real Vodacom traffic, real teacher review. By Q3 2026 we know if the uplift target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asks, each tied to a partner. Be specific about what each partner gives us — vague asks get vague yeses. Close with the repo URL so judges can run the code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737360" cy="384048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6949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EduConnect 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9CFF8C"/>
                </a:solidFill>
                <a:latin typeface="Calibri"/>
              </a:rPr>
              <a:t>Every learner. Every language. Every phone.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79476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0" y="1188720"/>
            <a:ext cx="1828800" cy="3840480"/>
          </a:xfrm>
          <a:prstGeom prst="roundRect">
            <a:avLst/>
          </a:prstGeom>
          <a:solidFill>
            <a:srgbClr val="03110D"/>
          </a:solidFill>
          <a:ln w="254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9098280" y="1371600"/>
            <a:ext cx="1371600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59" y="1874519"/>
            <a:ext cx="10058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03110D"/>
                </a:solidFill>
              </a:rPr>
              <a:t>Solve x²+x-30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19" y="2423160"/>
            <a:ext cx="10058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Try factorising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2971800"/>
            <a:ext cx="10058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03110D"/>
                </a:solidFill>
              </a:rPr>
              <a:t>(x+6)(x-5)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19" y="3520439"/>
            <a:ext cx="10058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✓ 3/3  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3931920"/>
            <a:ext cx="1371600" cy="2743200"/>
          </a:xfrm>
          <a:prstGeom prst="roundRect">
            <a:avLst/>
          </a:prstGeom>
          <a:solidFill>
            <a:srgbClr val="03110D"/>
          </a:solidFill>
          <a:ln w="2540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195560" y="4251959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CFF8C"/>
                </a:solidFill>
                <a:latin typeface="Consolas"/>
              </a:rPr>
              <a:t>USSD *123#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4709159"/>
            <a:ext cx="1188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1. Maths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2. Past papers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3. Language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4. Continue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630935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696A0"/>
                </a:solidFill>
                <a:latin typeface="Consolas"/>
              </a:rPr>
              <a:t>Reply: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4924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EDEF"/>
                </a:solidFill>
                <a:latin typeface="Calibri"/>
              </a:rPr>
              <a:t>A tutor South Africa can actually afford — for the 75% of learners no one else reaches.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FF8C"/>
                </a:solidFill>
                <a:latin typeface="Calibri"/>
              </a:rPr>
              <a:t>Powered by Dell AI Factory  ·  Zero-rated on Vodacom  ·  CAPS-aligned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[Team: replace device mockups with real photos of SA learners using the demo — see cover-photo brief]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EduConnect 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9CFF8C"/>
                </a:solidFill>
                <a:latin typeface="Calibri"/>
              </a:rPr>
              <a:t>CAPS-aligned. Multilingual. WhatsApp + USSD.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832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EDEF"/>
                </a:solidFill>
                <a:latin typeface="Calibri"/>
              </a:rPr>
              <a:t>A tutor every South African learner can access — even on a feature phone, even with no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696A0"/>
                </a:solidFill>
                <a:latin typeface="Calibri"/>
              </a:rPr>
              <a:t>Powered by Dell AI Factory  ·  Zero-rated on Vodacom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Most learners get stuck on the same step.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9EDEF"/>
                </a:solidFill>
                <a:latin typeface="Calibri"/>
              </a:rPr>
              <a:t>Tutors can't sit with each one. Most can't afford one at 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0896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South Africa: Maths NSC pass rate ~55–60%. Bachelor pass ~25–30%.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5–7 million SA learners own a phone but NOT a smartphone — Meta AI literally cannot reach them.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Private tutoring averages R250–500/hour. Out of reach for Quintile 1–3 learners (the 75% who need it most).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Generic AI gives the answer. Learning never happens.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One brain. Two channels. Every learner.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0312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128016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Rich UI: text + image upload of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11 official SA languages framework · 4 launch-validated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Learner-led: types problem, types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Diagnoses misconceptions, not just answers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NSC mark-scheme aware (toggle)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 Papers archive built in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Zero-rated via Vodacom WhatsApp bundles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560320"/>
            <a:ext cx="128016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USSD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Feature phones — no smartphone required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All 11 official languages on roadmap · 4 launch ready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Same Pythagoras / Area / Algebra / Past Papers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feedback in 160-char screens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Optional handoff to WhatsApp on request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Zero-rated by definition (aggregator path)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Reaches learners no other AI can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Sovereign brain. Deterministic maths. Curriculum-bounded.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965960"/>
            <a:ext cx="210312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788919" y="1965960"/>
            <a:ext cx="173736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937759" y="1965960"/>
            <a:ext cx="260604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955279" y="1965960"/>
            <a:ext cx="224028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607040" y="1965960"/>
            <a:ext cx="192024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242315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57199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1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10241280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057400"/>
            <a:ext cx="1920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1 · Learner + Channel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79" y="2468880"/>
            <a:ext cx="1828799" cy="45720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0">
                <a:solidFill>
                  <a:srgbClr val="E9EDEF"/>
                </a:solidFill>
              </a:rPr>
              <a:t>📱 Smartphone learner (Thandi)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79" y="3017520"/>
            <a:ext cx="1828799" cy="45720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0">
                <a:solidFill>
                  <a:srgbClr val="E9EDEF"/>
                </a:solidFill>
              </a:rPr>
              <a:t>📞 Feature-phone learner (Lethabo)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79" y="4114800"/>
            <a:ext cx="1828799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WhatsApp Cloud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79" y="4754879"/>
            <a:ext cx="1828799" cy="50292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Africa's Talking USSD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59" y="20574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2 · Public HTTPS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59" y="3017520"/>
            <a:ext cx="1554480" cy="50292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9CFF8C"/>
                </a:solidFill>
              </a:rPr>
              <a:t>Public HTTPS endpoint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59" y="36118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696A0"/>
                </a:solidFill>
                <a:latin typeface="Calibri"/>
              </a:rPr>
              <a:t>Deployed on Dell AI Factory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59" y="4297679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000" b="0">
                <a:solidFill>
                  <a:srgbClr val="E9EDEF"/>
                </a:solidFill>
                <a:latin typeface="Calibri"/>
              </a:rPr>
              <a:t>• Meta Webhook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E9EDEF"/>
                </a:solidFill>
                <a:latin typeface="Calibri"/>
              </a:rPr>
              <a:t>• USSD Callback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199" y="205740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3 · Tutor Engine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2468880"/>
            <a:ext cx="2148840" cy="54864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9CFF8C"/>
                </a:solidFill>
              </a:rPr>
              <a:t>Tutor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39" y="3200400"/>
            <a:ext cx="2240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Channel-agnostic orchestrator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Session state (Redis in production)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Language routing + i18n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Past-paper mode + NSC marking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205740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4 · AI Providers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246888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🧠 Reasoning LLM  ·  GPT-OSS 120B (Dell NIM)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324612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👁️ Vision VLM  ·  Llama 4 Scout (Dell NIM)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402336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🌐 Translation  ·  Same LLM, 11 SA languages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480060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📚 Verified maths + memos  ·  deterministic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0574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5 · Knowledge Base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98480" y="2468880"/>
            <a:ext cx="1737360" cy="50292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9CFF8C"/>
                </a:solidFill>
              </a:rPr>
              <a:t>Public + curated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3108960"/>
            <a:ext cx="1737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CAPS Mathematics — DBE education.gov.za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NSC past papers + memos — DBE archives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Provincial ATPs — WCED, GP, KZN, FS, LP, NW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Siyavula textbooks (CC-BY optional)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Educator advisory 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8696A0"/>
                </a:solidFill>
                <a:latin typeface="Calibri"/>
              </a:rPr>
              <a:t>All data stays in South Africa  ·  POPIA-aligned  ·  No conversation ever trains a foreign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One learner journey. Six screens. Every phone.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320040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CHOOSE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LANG: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Sepedi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GRADE: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11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Continue ▶ ]</a:t>
            </a:r>
          </a:p>
        </p:txBody>
      </p:sp>
      <p:sp>
        <p:nvSpPr>
          <p:cNvPr id="9" name="Oval 8"/>
          <p:cNvSpPr/>
          <p:nvPr/>
        </p:nvSpPr>
        <p:spPr>
          <a:xfrm>
            <a:off x="2876702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0046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337206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PICK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926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📄 2026 NW June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▶ Paper 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   ▶ Q1.1.1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     (3 marks)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Open ▶ ]</a:t>
            </a:r>
          </a:p>
        </p:txBody>
      </p:sp>
      <p:sp>
        <p:nvSpPr>
          <p:cNvPr id="13" name="Oval 12"/>
          <p:cNvSpPr/>
          <p:nvPr/>
        </p:nvSpPr>
        <p:spPr>
          <a:xfrm>
            <a:off x="4893868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7212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354372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0092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QUESTION 1.1.1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· 3 marks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Solve for x: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x² + x - 30 = 0</a:t>
            </a:r>
          </a:p>
        </p:txBody>
      </p:sp>
      <p:sp>
        <p:nvSpPr>
          <p:cNvPr id="17" name="Oval 16"/>
          <p:cNvSpPr/>
          <p:nvPr/>
        </p:nvSpPr>
        <p:spPr>
          <a:xfrm>
            <a:off x="6911035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4379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371539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7259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Your working: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x = -3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Send ✓ ]</a:t>
            </a:r>
          </a:p>
        </p:txBody>
      </p:sp>
      <p:sp>
        <p:nvSpPr>
          <p:cNvPr id="21" name="Oval 20"/>
          <p:cNvSpPr/>
          <p:nvPr/>
        </p:nvSpPr>
        <p:spPr>
          <a:xfrm>
            <a:off x="8928201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1545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388705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4425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NSC marking: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0 / 3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Re-check your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working...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Hint: factorise.</a:t>
            </a:r>
          </a:p>
        </p:txBody>
      </p:sp>
      <p:sp>
        <p:nvSpPr>
          <p:cNvPr id="25" name="Oval 24"/>
          <p:cNvSpPr/>
          <p:nvPr/>
        </p:nvSpPr>
        <p:spPr>
          <a:xfrm>
            <a:off x="10945367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68712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10405872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MEMO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51592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✓✓✓ 3/3  ★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Factorise: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(x+6)(x-5) = 0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x = -6 or x = 5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📄 NSC P1 Q1.1.1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74320" y="5440680"/>
            <a:ext cx="11640312" cy="256032"/>
          </a:xfrm>
          <a:prstGeom prst="rightArrow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CFF8C"/>
                </a:solidFill>
                <a:latin typeface="Calibri"/>
              </a:rPr>
              <a:t>One learner journey  ·  90 seconds  ·  zero cost  ·  every phone in South Africa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AI/LLM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Sovereign, open-weight, swap-able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Text Reasoning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5257800" cy="5486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03110D"/>
                </a:solidFill>
              </a:rPr>
              <a:t>🧠 openai/gpt-oss-120b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257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120B params, mixture-of-experts, open-weight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Apache 2.0 · self-hostable on Dell hardware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Handles: factorisation, trig, calculus, Socratic dialogue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Wrapped by CAPS system prompts (NSC mark codes)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Pilot: Groq API (~500 tok/s, free tier)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Production: Dell AI Factory NIM (in-country)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659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Vision / Multimodal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468880"/>
            <a:ext cx="5257800" cy="5486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03110D"/>
                </a:solidFill>
              </a:rPr>
              <a:t>👁️ Meta Llama 4 Scout 17B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200400"/>
            <a:ext cx="5257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Multimodal — text + image in one endpoint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Reads geometry diagrams, handwritten working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Textbook page snapshots, whiteboard photos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Same OpenAI-compatible API as reasoning LLM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Pilot: Groq API (free)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Production: Dell AI Factory NIM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989320"/>
            <a:ext cx="11064240" cy="54864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8640" y="6080759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CFF8C"/>
                </a:solidFill>
                <a:latin typeface="Calibri"/>
              </a:rPr>
              <a:t>Why open-weight Llama over GPT-4/Claude/Gemini: POPIA sovereignty · no vendor lock-in · zero pilot cost · fully auditable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CAPS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AI stays faithful to the DBE curriculum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6583680" cy="868680"/>
          </a:xfrm>
          <a:prstGeom prst="roundRect">
            <a:avLst/>
          </a:prstGeom>
          <a:solidFill>
            <a:srgbClr val="1A2A33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4 · Fine-tune on Dell AI Factory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21408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696A0"/>
                </a:solidFill>
                <a:latin typeface="Calibri"/>
              </a:rPr>
              <a:t>LoRA on gpt-oss-120b, trained on educator-reviewed pilot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2011679"/>
            <a:ext cx="1554480" cy="36576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1">
                <a:solidFill>
                  <a:srgbClr val="8696A0"/>
                </a:solidFill>
              </a:rPr>
              <a:t>POST-PILOT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6583680" cy="868680"/>
          </a:xfrm>
          <a:prstGeom prst="roundRect">
            <a:avLst/>
          </a:prstGeom>
          <a:solidFill>
            <a:srgbClr val="1D303C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3 · RAG over DBE CAPS PDF + NSC past papers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27248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696A0"/>
                </a:solidFill>
                <a:latin typeface="Calibri"/>
              </a:rPr>
              <a:t>Retrieval-augmented generation · in-country vector DB · cite section numbers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60" y="3017520"/>
            <a:ext cx="1554480" cy="36576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1">
                <a:solidFill>
                  <a:srgbClr val="FFE9B8"/>
                </a:solidFill>
              </a:rPr>
              <a:t>SPONSORED PILOT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6583680" cy="868680"/>
          </a:xfrm>
          <a:prstGeom prst="roundRect">
            <a:avLst/>
          </a:prstGeom>
          <a:solidFill>
            <a:srgbClr val="213845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3794759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2 · Curriculum knowledge base + topic classifier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33087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696A0"/>
                </a:solidFill>
                <a:latin typeface="Calibri"/>
              </a:rPr>
              <a:t>Grade × topic scope + sub-skills injected into every prompt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4023359"/>
            <a:ext cx="1554480" cy="36576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1">
                <a:solidFill>
                  <a:srgbClr val="FFE9B8"/>
                </a:solidFill>
              </a:rPr>
              <a:t>NEXT SPRINT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754879"/>
            <a:ext cx="6583680" cy="868680"/>
          </a:xfrm>
          <a:prstGeom prst="roundRect">
            <a:avLst/>
          </a:prstGeom>
          <a:solidFill>
            <a:srgbClr val="00A884"/>
          </a:solidFill>
          <a:ln w="25400">
            <a:solidFill>
              <a:srgbClr val="9CF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800599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3110D"/>
                </a:solidFill>
                <a:latin typeface="Calibri"/>
              </a:rPr>
              <a:t>★ Layer 1 · CAPS system-prompt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38927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3110D"/>
                </a:solidFill>
                <a:latin typeface="Calibri"/>
              </a:rPr>
              <a:t>NSC (M)/(A)/(CA) mark codes · exact-form notation · DBE phrasing · grade scope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94960" y="5029199"/>
            <a:ext cx="1554480" cy="36576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9CFF8C"/>
                </a:solidFill>
              </a:rPr>
              <a:t>★ LIVE 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173736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696A0"/>
                </a:solidFill>
                <a:latin typeface="Calibri"/>
              </a:rPr>
              <a:t>Before Layer 1 (raw LLM)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148840"/>
            <a:ext cx="4160520" cy="150876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89520" y="2240280"/>
            <a:ext cx="3886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9EDEF"/>
                </a:solidFill>
                <a:latin typeface="Calibri"/>
              </a:rPr>
              <a:t>Solve 2x² − 5x − 3 = 0
Using the quadratic formula,
x = (5 ± √49) / 4
So x = 3 or x = −0.5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79476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CFF8C"/>
                </a:solidFill>
                <a:latin typeface="Calibri"/>
              </a:rPr>
              <a:t>After Layer 1 (CAPS-wrapped)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4206240"/>
            <a:ext cx="4160520" cy="1965960"/>
          </a:xfrm>
          <a:prstGeom prst="roundRect">
            <a:avLst/>
          </a:prstGeom>
          <a:solidFill>
            <a:srgbClr val="111B21"/>
          </a:solidFill>
          <a:ln w="254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89520" y="4297680"/>
            <a:ext cx="38862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FF8C"/>
                </a:solidFill>
                <a:latin typeface="Calibri"/>
              </a:rPr>
              <a:t>Solve for x:  2x² − 5x − 3 = 0
b² − 4ac = 25 + 24 = 49    (M)
x = (5 ± √49) / (2·2)        (M)
x = 3  or  x = −½            (A)(A)
(CAPS Grade 11 — Quadratic equations)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Same model. Same question. CAPS-wrapped answers are what NSC markers actually score — that's the moat.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Architecture ·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One request, end-to-end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1600200"/>
            <a:ext cx="576072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37560" y="1645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1 · Learner input  ·  WhatsApp / USSD /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892807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text · photo · PDF/DOCX · quick-reply button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2103120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0" y="2322576"/>
            <a:ext cx="5760720" cy="50292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37560" y="23682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2 · Channel handler  ·  app/channels/*.py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615184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Normalises to InboundMessage schema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43600" y="2825496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00400" y="3044952"/>
            <a:ext cx="5760720" cy="502920"/>
          </a:xfrm>
          <a:prstGeom prst="roundRect">
            <a:avLst/>
          </a:prstGeom>
          <a:solidFill>
            <a:srgbClr val="9C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37560" y="3090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3 · Tutor Engine  ·  app/tutor/engine.py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33756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Routes by input type · session state · language / grade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43600" y="3547872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00400" y="3767328"/>
            <a:ext cx="5760720" cy="685800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291840" y="3803904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CFF8C"/>
                </a:solidFill>
                <a:latin typeface="Calibri"/>
              </a:rPr>
              <a:t>4 · Router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0128" y="4023360"/>
            <a:ext cx="1071676" cy="182880"/>
          </a:xfrm>
          <a:prstGeom prst="round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📝 Past-paper?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canonical answer + memo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7524" y="4023360"/>
            <a:ext cx="1071676" cy="182880"/>
          </a:xfrm>
          <a:prstGeom prst="roundRect">
            <a:avLst/>
          </a:prstGeom>
          <a:solidFill>
            <a:srgbClr val="66B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🧮 Arithmetic?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7524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deterministic evaluator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44921" y="4023360"/>
            <a:ext cx="1071676" cy="1828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🔤 Equation?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44921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math_analyzer (Python)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2318" y="4023360"/>
            <a:ext cx="1071676" cy="182880"/>
          </a:xfrm>
          <a:prstGeom prst="roundRect">
            <a:avLst/>
          </a:prstGeom>
          <a:solidFill>
            <a:srgbClr val="C8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🖼️ Image?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2318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vision 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9715" y="4023360"/>
            <a:ext cx="1071676" cy="1828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/>
          <a:lstStyle/>
          <a:p>
            <a:pPr algn="ctr"/>
            <a:r>
              <a:rPr sz="900" b="1">
                <a:solidFill>
                  <a:srgbClr val="03110D"/>
                </a:solidFill>
                <a:latin typeface="Calibri"/>
              </a:rPr>
              <a:t>📄 Doc?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9715" y="4224528"/>
            <a:ext cx="10716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696A0"/>
                </a:solidFill>
                <a:latin typeface="Calibri"/>
              </a:rPr>
              <a:t>PDF/DOCX → LLM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43600" y="4453128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4672584"/>
            <a:ext cx="5760720" cy="50292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337560" y="47183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CFF8C"/>
                </a:solidFill>
                <a:latin typeface="Calibri"/>
              </a:rPr>
              <a:t>5 · AI Providers  ·  app/providers/*.py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7560" y="4965192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CFF8C"/>
                </a:solidFill>
                <a:latin typeface="Calibri"/>
              </a:rPr>
              <a:t>Reasoning · Vision · Translation (all pluggable)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4718304"/>
            <a:ext cx="288036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Groq / Dell AI Factory NIM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961120" y="4832604"/>
            <a:ext cx="274320" cy="18288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wn Arrow 34"/>
          <p:cNvSpPr/>
          <p:nvPr/>
        </p:nvSpPr>
        <p:spPr>
          <a:xfrm>
            <a:off x="5943600" y="5175504"/>
            <a:ext cx="274320" cy="201168"/>
          </a:xfrm>
          <a:prstGeom prst="down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200400" y="5394960"/>
            <a:ext cx="576072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337560" y="5440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3110D"/>
                </a:solidFill>
                <a:latin typeface="Calibri"/>
              </a:rPr>
              <a:t>6 · Response back to learner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7560" y="5687568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03110D"/>
                </a:solidFill>
                <a:latin typeface="Calibri"/>
              </a:rPr>
              <a:t>TutorResponse → Channel serialiser → learner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111B21"/>
          </a:solidFill>
          <a:ln w="127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48640" y="6318503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CFF8C"/>
                </a:solidFill>
                <a:latin typeface="Calibri"/>
              </a:rPr>
              <a:t>Every layer swappable · Every input format supported · No hallucination on deterministic maths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Why this 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Not a chatbot. A specialised SA tutor.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gives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refuse to — pedagogy enforced in code, not in a prompt.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marks right or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diagnose the exact step where thinking broke + the misconception.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knows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are bounded to CAPS — auditable by DBE, editable by educators.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needs a smartphone.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USSD reaches feature phones. 5-7M SA learners Meta cannot serve.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AI's data leaves SA.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run on Dell AI Factory in country. POPIA-aligned. Sovereign.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Will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Yes — as a complement, not a replacement.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A884"/>
                </a:solidFill>
                <a:latin typeface="Calibri"/>
              </a:rPr>
              <a:t>Why we expect uplift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Diagnostic feedback has the highest effect size in education research (Hattie, d ≈ 0.7-1.0).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Past-paper practice is the single best predictor of NSC outcomes — we give every learner the full archive, free.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Mother-tongue access reduces cognitive load — we deliver in en/af/zu/xh.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awareness teaches learners to write for the marker, not just to compute.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E9B8"/>
                </a:solidFill>
                <a:latin typeface="Calibri"/>
              </a:rPr>
              <a:t>Honest target: +5-15 percentage points on Maths NSC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696A0"/>
                </a:solidFill>
                <a:latin typeface="Calibri"/>
              </a:rPr>
              <a:t>What we will NOT claim: that we replace teachers, fix poverty, or substitute for actual practice. We measure outcomes, publish quarterly, and refuse to overclaim.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Who is this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Phase 1: Quintile 1–3 NSC learners.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393192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Thandi (WhatsApp)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11 · Soweto · isiZulu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Mother is a domestic worker. Father unemployed.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Basic Android + Vodacom social bundle.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Currently averaging 50%. Wants a bachelor pass.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WhatsApp at night, mostly 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468880"/>
            <a:ext cx="393192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Lethabo (USSD)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12 · rural Limpopo · Sepedi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Lives with grandmother. No parents.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Nokia feature phone — no smartphone.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65% mid-year. Wants 70%+ for accounting at UJ.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USSD at school in free periods.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696A0"/>
                </a:solidFill>
                <a:latin typeface="Calibri"/>
              </a:rPr>
              <a:t>Phase 2: Grades 8–10 + Maths Literacy. Phase 3: Sciences, Accounting, 11 official spoken languages + SA Sign Language (video channel).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Equality · Safety ·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Built right, not built fast.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Two channels — never device-locked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Zero at point of use (zero-rated)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4 validated + 7 first-pass + SA Sign Language = 12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Identical brain on both channels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premium tier — design constraint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146304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CAPS-bounded — no off-topic chat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Verified maths in code, not LLM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POPIA-aligned, SA-hosted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PII beyond phone number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Reporting → real educator escalation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468880"/>
            <a:ext cx="1463040" cy="411480"/>
          </a:xfrm>
          <a:prstGeom prst="roundRect">
            <a:avLst/>
          </a:prstGeom>
          <a:solidFill>
            <a:srgbClr val="9C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Sources cited on every screen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topic + sub-skill labelled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Educator-editable curriculum file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Refuses to give final answers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Quarterly public impact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E9B8"/>
                </a:solidFill>
                <a:latin typeface="Calibri"/>
              </a:rPr>
              <a:t>Refusing a premium tier is a design constraint, not an oversight.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From hackathon prototype to national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Both channels working end-to-end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Real NSC questions, cited sources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mappings against ATPs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Mock providers (offline demo)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Dell AI Factory LLM + VLM live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Vodacom WhatsApp + USSD partnership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5 schools across 2 provinces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 advisory board (4-6 teachers)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All 11 official spoken languages educator-validated + SA Sign Language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Maths Lit, Sciences, Accounting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Class-level analytics for teachers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DBE adoption discussions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What we need to go from finalist to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5146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AI Factory hardware sponsorship + NIM endpoints (reasoning LLM + vision VLM in country).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Vodacom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32918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WhatsApp Business Cloud number whitelisted for zero-rating; USSD shortcode partnership.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DBE / Province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06908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Pilot endorsement at 5 schools across 2 provinces. Anonymous outcome data sharing.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0060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Educators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4846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4–6 practising SA Maths teachers (multi-lingual) to form the advisory 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696A0"/>
                </a:solidFill>
                <a:latin typeface="Consolas"/>
              </a:rPr>
              <a:t>github.com/snerantie/Dell-Prototype---AI-Integration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