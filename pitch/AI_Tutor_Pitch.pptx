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equity story. We're a CAPS-aligned multilingual AI tutor that meets every learner — smartphone or feature phone — where they are. Powered by Dell AI Factory. Zero-rated on Vodacom.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gap: tutoring works, but it's only available to learners who can afford it. Generic AI gives answers, which is worse than no help — kids hand in homework they didn't learn from. We need a tutor that's free, in their language, on whatever phone they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brain serves both channels. Pedagogy is identical. CAPS scaffolding is identical. The only difference is the UI surface — rich on WhatsApp, text-only on USSD. The architecture lets us flip providers (mock to real Dell LLM, mock WhatsApp to Meta Cloud API) with a single env-var change. No code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seam between channel UI and reasoning is intentional. Providers are abstract base classes; real Dell endpoints plug into the same interfaces the mocks satisfy. The deterministic math analyzer grounds the LLM so it cannot hallucinate the answer — the LLM only explains a verified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moats. The strongest two: USSD reach (literal, measurable) and CAPS-aligned + sovereign hosting (institutional procurement). Meta cannot replicate USSD without rebuilding their stack. They cannot replicate CAPS without years of SA pedagogical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oversell. Hattie meta-analysis is real; tutoring uplifts; we are a force multiplier for motivated learners with access to a teacher. We will measure and publish quarterly impact. Honesty here is what separates a serious public-good service from another tech bet.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personas. Thandi is the WhatsApp learner — has a smartphone, limited data, needs zero-rating. Lethabo is the USSD learner — feature phone, no other path to AI tutoring exists. Both are real archetypes covering the under-resourced 75% of SA learners.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pillars, concrete commitments under each. The closing line is the most important: judges expect a freemium model. Saying out loud that we refuse it is what makes a sponsor know this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phases, six months apart. Pilot is the make-or-break: 5 schools, 2 provinces, real LLM, real Vodacom traffic, real teacher review. By Q3 2026 we know if the uplift target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asks, each tied to a partner. Be specific about what each partner gives us — vague asks get vague yeses. Close with the repo URL so judges can run the code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463040" cy="41148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03110D"/>
                </a:solidFill>
              </a:rPr>
              <a:t>Dell · Hackathon Finalist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9CFF8C"/>
                </a:solidFill>
                <a:latin typeface="Calibri"/>
              </a:rPr>
              <a:t>CAPS-aligned. Multilingual. WhatsApp + USSD.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383280"/>
            <a:ext cx="3657600" cy="508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EDEF"/>
                </a:solidFill>
                <a:latin typeface="Calibri"/>
              </a:rPr>
              <a:t>A tutor every South African learner can access — even on a feature phone, even with no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696A0"/>
                </a:solidFill>
                <a:latin typeface="Calibri"/>
              </a:rPr>
              <a:t>Powered by Dell AI Factory  ·  Zero-rated on Vodacom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347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Most learners get stuck on the same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9EDEF"/>
                </a:solidFill>
                <a:latin typeface="Calibri"/>
              </a:rPr>
              <a:t>Tutors can't sit with each one. Most can't afford one at 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3657600" cy="508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800">
                <a:solidFill>
                  <a:srgbClr val="E9EDEF"/>
                </a:solidFill>
                <a:latin typeface="Calibri"/>
              </a:rPr>
              <a:t>• South Africa: Maths NSC pass rate ~55–60%. Bachelor pass ~25–30%.</a:t>
            </a:r>
          </a:p>
          <a:p>
            <a:pPr algn="l">
              <a:spcBef>
                <a:spcPts val="800"/>
              </a:spcBef>
            </a:pPr>
            <a:r>
              <a:rPr sz="1800">
                <a:solidFill>
                  <a:srgbClr val="E9EDEF"/>
                </a:solidFill>
                <a:latin typeface="Calibri"/>
              </a:rPr>
              <a:t>• 5–7 million SA learners own a phone but NOT a smartphone — Meta AI literally cannot reach them.</a:t>
            </a:r>
          </a:p>
          <a:p>
            <a:pPr algn="l">
              <a:spcBef>
                <a:spcPts val="800"/>
              </a:spcBef>
            </a:pPr>
            <a:r>
              <a:rPr sz="1800">
                <a:solidFill>
                  <a:srgbClr val="E9EDEF"/>
                </a:solidFill>
                <a:latin typeface="Calibri"/>
              </a:rPr>
              <a:t>• Private tutoring averages R250–500/hour. Out of reach for Quintile 1–3 learners (the 75% who need it most).</a:t>
            </a:r>
          </a:p>
          <a:p>
            <a:pPr algn="l">
              <a:spcBef>
                <a:spcPts val="800"/>
              </a:spcBef>
            </a:pPr>
            <a:r>
              <a:rPr sz="1800">
                <a:solidFill>
                  <a:srgbClr val="E9EDEF"/>
                </a:solidFill>
                <a:latin typeface="Calibri"/>
              </a:rPr>
              <a:t>• Generic AI gives the answer. Learning never happens.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84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One brain. Two channels. Every learner.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3657600" cy="508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1280160" cy="45720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3110D"/>
                </a:solidFill>
              </a:rPr>
              <a:t>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Rich UI: text + image upload of working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Multilingual auto-detect (en/af/zu/xh)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Learner-led: types problem, types working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Diagnoses misconceptions, not just answers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NSC mark-scheme aware (toggle)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Past Papers archive built in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Zero-rated via Vodacom WhatsApp bundles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1280160" cy="457200"/>
          </a:xfrm>
          <a:prstGeom prst="round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3110D"/>
                </a:solidFill>
              </a:rPr>
              <a:t>USSD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Feature phones — no smartphone required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Same 4 languages, native experience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Same Pythagoras / Area / Algebra / Past Papers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Mark-scheme feedback in 160-char screens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Optional handoff to WhatsApp on request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Zero-rated by definition (aggregator path)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Reaches learners no other AI can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84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Channel-agnostic engine, swappable providers.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657600" cy="508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2377440" cy="64008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03110D"/>
                </a:solidFill>
              </a:rPr>
              <a:t>WhatsApp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66160"/>
            <a:ext cx="2377440" cy="640080"/>
          </a:xfrm>
          <a:prstGeom prst="round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03110D"/>
                </a:solidFill>
              </a:rPr>
              <a:t>USSD aggregator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3154680"/>
            <a:ext cx="3108960" cy="640080"/>
          </a:xfrm>
          <a:prstGeom prst="roundRect">
            <a:avLst/>
          </a:prstGeom>
          <a:solidFill>
            <a:srgbClr val="11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9CFF8C"/>
                </a:solidFill>
              </a:rPr>
              <a:t>Tutor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423160"/>
            <a:ext cx="3291840" cy="548640"/>
          </a:xfrm>
          <a:prstGeom prst="roundRect">
            <a:avLst/>
          </a:prstGeom>
          <a:solidFill>
            <a:srgbClr val="11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E9EDEF"/>
                </a:solidFill>
              </a:rPr>
              <a:t>LLM (Dell AI Factory NIM)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017520"/>
            <a:ext cx="3291840" cy="548640"/>
          </a:xfrm>
          <a:prstGeom prst="roundRect">
            <a:avLst/>
          </a:prstGeom>
          <a:solidFill>
            <a:srgbClr val="11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E9EDEF"/>
                </a:solidFill>
              </a:rPr>
              <a:t>Vision (Dell VLM)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611880"/>
            <a:ext cx="3291840" cy="548640"/>
          </a:xfrm>
          <a:prstGeom prst="roundRect">
            <a:avLst/>
          </a:prstGeom>
          <a:solidFill>
            <a:srgbClr val="11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E9EDEF"/>
                </a:solidFill>
              </a:rPr>
              <a:t>Translation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06240"/>
            <a:ext cx="3291840" cy="548640"/>
          </a:xfrm>
          <a:prstGeom prst="roundRect">
            <a:avLst/>
          </a:prstGeom>
          <a:solidFill>
            <a:srgbClr val="11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9CFF8C"/>
                </a:solidFill>
              </a:rPr>
              <a:t>Past Papers + CAPS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696A0"/>
                </a:solidFill>
                <a:latin typeface="Calibri"/>
              </a:rPr>
              <a:t>Mock providers ↔ Dell providers swap by env var. No code rewrite.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84"/>
                </a:solidFill>
                <a:latin typeface="Calibri"/>
              </a:rPr>
              <a:t>Why this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Not a chatbot. A specialised SA tutor.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657600" cy="508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96A0"/>
                </a:solidFill>
                <a:latin typeface="Calibri"/>
              </a:rPr>
              <a:t>Generic AI gives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60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CFF8C"/>
                </a:solidFill>
                <a:latin typeface="Calibri"/>
              </a:rPr>
              <a:t>We refuse to — pedagogy enforced in code, not in a prompt.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96A0"/>
                </a:solidFill>
                <a:latin typeface="Calibri"/>
              </a:rPr>
              <a:t>Generic AI marks right or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246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CFF8C"/>
                </a:solidFill>
                <a:latin typeface="Calibri"/>
              </a:rPr>
              <a:t>We diagnose the exact step where thinking broke + the misconception.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96A0"/>
                </a:solidFill>
                <a:latin typeface="Calibri"/>
              </a:rPr>
              <a:t>Generic AI knows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931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CFF8C"/>
                </a:solidFill>
                <a:latin typeface="Calibri"/>
              </a:rPr>
              <a:t>We are bounded to CAPS — auditable by DBE, editable by educators.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96A0"/>
                </a:solidFill>
                <a:latin typeface="Calibri"/>
              </a:rPr>
              <a:t>Generic AI needs a smartphone.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617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CFF8C"/>
                </a:solidFill>
                <a:latin typeface="Calibri"/>
              </a:rPr>
              <a:t>USSD reaches feature phones. 5-7M SA learners Meta cannot serve.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96A0"/>
                </a:solidFill>
                <a:latin typeface="Calibri"/>
              </a:rPr>
              <a:t>Generic AI's data leaves 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303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CFF8C"/>
                </a:solidFill>
                <a:latin typeface="Calibri"/>
              </a:rPr>
              <a:t>We run on Dell AI Factory in country. POPIA-aligned. Sovereign.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347"/>
                </a:solidFill>
                <a:latin typeface="Calibri"/>
              </a:rPr>
              <a:t>Will it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Yes — as a complement, not a replacement.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657600" cy="508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884"/>
                </a:solidFill>
                <a:latin typeface="Calibri"/>
              </a:rPr>
              <a:t>Why we expect uplift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Diagnostic feedback has the highest effect size in education research (Hattie, d ≈ 0.7-1.0).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Past-paper practice is the single best predictor of NSC outcomes — we give every learner the full archive, free.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Mother-tongue access reduces cognitive load — we deliver in en/af/zu/xh.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E9EDEF"/>
                </a:solidFill>
                <a:latin typeface="Calibri"/>
              </a:rPr>
              <a:t>• Mark-scheme awareness teaches learners to write for the marker, not just to compute.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E9B8"/>
                </a:solidFill>
                <a:latin typeface="Calibri"/>
              </a:rPr>
              <a:t>Honest target: +5-15 percentage points on Maths NSC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96A0"/>
                </a:solidFill>
                <a:latin typeface="Calibri"/>
              </a:rPr>
              <a:t>What we will NOT claim: that we replace teachers, fix poverty, or substitute for actual practice. We measure outcomes, publish quarterly, and refuse to overclaim.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84"/>
                </a:solidFill>
                <a:latin typeface="Calibri"/>
              </a:rPr>
              <a:t>Who is this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Phase 1: Quintile 1–3 NSC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657600" cy="508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3931920" cy="45720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03110D"/>
                </a:solidFill>
              </a:rPr>
              <a:t>Persona · Thandi (WhatsApp)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>
                <a:solidFill>
                  <a:srgbClr val="E9EDEF"/>
                </a:solidFill>
                <a:latin typeface="Calibri"/>
              </a:rPr>
              <a:t>• Grade 11 · Soweto · isiZulu first-language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E9EDEF"/>
                </a:solidFill>
                <a:latin typeface="Calibri"/>
              </a:rPr>
              <a:t>• Mother is a domestic worker. Father unemployed.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E9EDEF"/>
                </a:solidFill>
                <a:latin typeface="Calibri"/>
              </a:rPr>
              <a:t>• Basic Android + Vodacom social bundle.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E9EDEF"/>
                </a:solidFill>
                <a:latin typeface="Calibri"/>
              </a:rPr>
              <a:t>• Currently averaging 50%. Wants a bachelor pass.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E9EDEF"/>
                </a:solidFill>
                <a:latin typeface="Calibri"/>
              </a:rPr>
              <a:t>• Uses our tutor on WhatsApp at night, mostly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468880"/>
            <a:ext cx="3931920" cy="457200"/>
          </a:xfrm>
          <a:prstGeom prst="round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03110D"/>
                </a:solidFill>
              </a:rPr>
              <a:t>Persona · Lethabo (USSD)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>
                <a:solidFill>
                  <a:srgbClr val="E9EDEF"/>
                </a:solidFill>
                <a:latin typeface="Calibri"/>
              </a:rPr>
              <a:t>• Grade 12 · rural Limpopo · Sepedi first-language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E9EDEF"/>
                </a:solidFill>
                <a:latin typeface="Calibri"/>
              </a:rPr>
              <a:t>• Lives with grandmother. No parents.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E9EDEF"/>
                </a:solidFill>
                <a:latin typeface="Calibri"/>
              </a:rPr>
              <a:t>• Nokia feature phone — no smartphone.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E9EDEF"/>
                </a:solidFill>
                <a:latin typeface="Calibri"/>
              </a:rPr>
              <a:t>• 65% mid-year. Wants 70%+ for accounting at UJ.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E9EDEF"/>
                </a:solidFill>
                <a:latin typeface="Calibri"/>
              </a:rPr>
              <a:t>• Uses our tutor on USSD at school in free periods.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696A0"/>
                </a:solidFill>
                <a:latin typeface="Calibri"/>
              </a:rPr>
              <a:t>Phase 2: Grades 8–10 + Maths Literacy. Phase 3: Sciences, Accounting, all 11 official languages.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84"/>
                </a:solidFill>
                <a:latin typeface="Calibri"/>
              </a:rPr>
              <a:t>Equality · Safety ·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Built right, not built fast.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657600" cy="508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1463040" cy="41148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3110D"/>
                </a:solidFill>
              </a:rPr>
              <a:t>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Two channels — never device-locked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Zero at point of use (zero-rated)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en / af / zu / xh now → 11 langs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Identical brain on both channels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No premium tier — design constraint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68880"/>
            <a:ext cx="1463040" cy="411480"/>
          </a:xfrm>
          <a:prstGeom prst="round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3110D"/>
                </a:solidFill>
              </a:rPr>
              <a:t>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01752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CAPS-bounded — no off-topic chat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Verified maths in code, not LLM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POPIA-aligned, SA-hosted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No PII beyond phone number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Reporting → real educator escalation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468880"/>
            <a:ext cx="1463040" cy="411480"/>
          </a:xfrm>
          <a:prstGeom prst="roundRect">
            <a:avLst/>
          </a:prstGeom>
          <a:solidFill>
            <a:srgbClr val="9C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3110D"/>
                </a:solidFill>
              </a:rPr>
              <a:t>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01752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Sources cited on every screen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CAPS topic + sub-skill labelled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Educator-editable curriculum file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Refuses to give final answers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Quarterly public impact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E9B8"/>
                </a:solidFill>
                <a:latin typeface="Calibri"/>
              </a:rPr>
              <a:t>Refusing a premium tier is a design constraint, not an oversight.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84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From hackathon prototype to national pilot.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657600" cy="508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1371600" cy="411480"/>
          </a:xfrm>
          <a:prstGeom prst="round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03110D"/>
                </a:solidFill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Both channels working end-to-end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Real NSC questions, cited sources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CAPS mappings against ATPs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Mock providers (offline demo)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1371600" cy="411480"/>
          </a:xfrm>
          <a:prstGeom prst="round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03110D"/>
                </a:solidFill>
              </a:rP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1089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Dell AI Factory LLM + VLM live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Vodacom WhatsApp + USSD partnership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5 schools across 2 provinces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Educator advisory board (4-6 teachers)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468880"/>
            <a:ext cx="1371600" cy="411480"/>
          </a:xfrm>
          <a:prstGeom prst="round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03110D"/>
                </a:solidFill>
              </a:rP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1089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All 11 official languages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Maths Lit, Sciences, Accounting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Class-level analytics for teachers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E9EDEF"/>
                </a:solidFill>
                <a:latin typeface="Calibri"/>
              </a:rPr>
              <a:t>• DBE adoption discussions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347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we need to go from finalist to pilot.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657600" cy="508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1828800" cy="50292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3110D"/>
                </a:solidFill>
              </a:rPr>
              <a:t>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5146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9EDEF"/>
                </a:solidFill>
                <a:latin typeface="Calibri"/>
              </a:rPr>
              <a:t>AI Factory hardware sponsorship + NIM endpoints (reasoning LLM + vision VLM in country).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1828800" cy="50292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3110D"/>
                </a:solidFill>
              </a:rPr>
              <a:t>Vodacom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2918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9EDEF"/>
                </a:solidFill>
                <a:latin typeface="Calibri"/>
              </a:rPr>
              <a:t>WhatsApp Business Cloud number whitelisted for zero-rating; USSD shortcode partnership.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828800" cy="50292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3110D"/>
                </a:solidFill>
              </a:rPr>
              <a:t>DBE / Province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0690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9EDEF"/>
                </a:solidFill>
                <a:latin typeface="Calibri"/>
              </a:rPr>
              <a:t>Pilot endorsement at 5 schools across 2 provinces. Anonymous outcome data sharing.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1828800" cy="50292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3110D"/>
                </a:solidFill>
              </a:rPr>
              <a:t>Educators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8463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9EDEF"/>
                </a:solidFill>
                <a:latin typeface="Calibri"/>
              </a:rPr>
              <a:t>4–6 practising SA Maths teachers (multi-lingual) to form the advisory 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696A0"/>
                </a:solidFill>
                <a:latin typeface="Consolas"/>
              </a:rPr>
              <a:t>github.com/snerantie/Dell-Prototype---AI-Integration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