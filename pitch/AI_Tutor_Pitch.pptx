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mission, not the tech. EduConnect AI Tutor is a public-good tutor that reaches every learner in South Africa — smartphone or feature phone, any of the 11 official languages. The two device mockups are placeholders; final version replaces them with real photos of SA learners using the app. Powered by Dell AI Factory. Zero-rated on Vodacom (design supports zero-rating; formal partnership is the ask, not something we're claiming as delivered). CAPS-aligned.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equity story. EduConnect AI Tutor is a CAPS-aligned multilingual tutor that meets every learner — smartphone or feature phone — where they are. Powered by Dell AI Factory. Zero-rated on Vodacom (design supports zero-rating; formal partnership is the ask, not something we're claiming as delivered).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gap: tutoring works, but it's only available to learners who can afford it. Generic AI gives answers, which is worse than no help — kids hand in homework they didn't learn from. We need a tutor that's free, in their language, on whatever phone they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brain serves both channels. Pedagogy is identical. CAPS scaffolding is identical. The only difference is the UI surface — rich on WhatsApp, text-only on USSD. The architecture lets us flip providers (mock to real Dell LLM, mock WhatsApp to Meta Cloud API) with a single env-var change. No code rewrite.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green-underlined block is what Meta AI cannot claim: sovereign data, deterministic maths grounding, curriculum-bounded scope. The knowledge base is publicly sourceable — no proprietary AI, no black box, no data leaving the country.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EduConnect demo you'll record. Six screens, one continuous flow, real NSC content, no answers given away, mark-scheme-authentic. When an executive asks 'is this real?' — this is the slide you point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GPT-OSS 120B is OpenAI's open-weight family — same architectural bet as the Llama choice: open-weight, Apache 2.0, self-hostable on Dell. Groq is our pilot host (free tier). Dell AI Factory NIM is our production host. Same API contract on both sides — swap via one env var. The RAW model isn't CAPS-aligned by itself — the next slide shows how we wrap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judges remember. Four layers, additive not exclusive. Layer 1 (green, foundation) is LIVE today — every LLM call is prefixed with ~4.4 KB of CAPS conventions. Layer 2 is 3-5 hours of work. Layer 3 (RAG over DBE CAPS PDF) is what Dell sponsorship unlocks. Layer 4 (LoRA fine-tune on Dell hardware) is the long-term moat. The right column shows the concrete before/after so non-technical judges can see the difference — a raw LLM gives an American-decimal answer; the CAPS-wrapped version has NSC mark codes, exact form (x = -½ not -0.5), and cites the CAPS topic. That's un-replicable by a Groq or ChatGPT wrapper.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request path in production. Green = deterministic guarantees, orange = channel-specific, panel-grey = generic infrastructure. The 5-pill router row is the KEY design decision: not everything hits the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moats. The strongest two: USSD reach (literal, measurable) and CAPS-aligned + sovereign hosting (institutional procurement). Meta cannot replicate USSD without rebuilding their stack. They cannot replicate CAPS without years of SA pedagogical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oversell. Hattie meta-analysis is real; tutoring uplifts; we are a force multiplier for motivated learners with access to a teacher. We will measure and publish quarterly impact. Honesty here is what separates a serious public-good service from another tech bet.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personas. Thandi is the WhatsApp learner — has a smartphone, limited data, needs zero-rating. Lethabo is the USSD learner — feature phone, no other path to AI tutoring exists. Both are real archetypes covering the under-resourced 75% of SA learners.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pillars, concrete commitments under each. The closing line is the most important: judges expect a freemium model. Saying out loud that we refuse it is what makes a sponsor know this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about the split. Left column = shipped today, real code in the repo. Right column = designed but not yet implemented — each item is 1–2 days of engineering and deliberately deferred until Vodacom's DPO tells us their preferred hosting, retention policy, and DPA template. Do NOT claim 'POPIA-aligned' as delivered — the ARCHITECTURE is POPIA-aligned; the compliance sign-off comes in Phase 1. The image classifier is Phase 1 work; today we accept any image and pass it to the vision model with a curriculum-bounded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phases, six months apart. Pilot is the make-or-break: 5 schools, 2 provinces, real LLM, real Vodacom traffic, real teacher review. By Q3 2026 we know if the uplift target lands.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numbers on this slide, both honest. R15–R25 is TODAY: real Gemini Flash-Lite pricing, real aggregator USSD rates (~R0.05–R0.10 per session), real Meta WhatsApp Cloud rates, real Render/Postgres hosting. R2 is the TARGET — it lands only when Dell donates NIM hardware (drops LLM cost to hardware amortisation only) AND Vodacom absorbs USSD + data charges through the Purpose partnership. Neither is signed. The ~100 sessions/learner/year figure is our modelling assumption — we don't have pilot data yet, so it could be 20 or 300. If a CFO in the room challenges the R2, the honest answer is: 'That's our target with signed partnerships. Unsubsidised today, we're at R15–R25 — and even at 10× that, we're still ~80× cheaper than a private tutor. The economics work at any point in that range.' Don't oversell R2 — the R2-vs-R25 framing is what makes this credible in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swap-ability slide. Every provider we list exposes an OpenAI-compatible /chat/completions endpoint, so switching is literally 6 env vars: base URL, key, model name for reasoning, vision, translation, and embedding. Today we run Gemini 3.5 Flash-Lite in the pilot — it's the cheapest and hits SA latency. Production endpoint is Dell AI Factory NIM: hardware cost only, POPIA-sovereign, no per-token bill. GPT-4o-mini and Claude Haiku are named fallbacks so procurement doesn't panic about vendor-lock. Roadmap, not shipped: the Dell NIM row is what we're asking Dell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'we complete e-School, we don't compete with it.' The 5 landscape tiles cover the current SA e-learning offer — content-heavy, no live 1-on-1. That's our lane. The 3-phase timeline is a proposal for Vodacom — Phase 1 is 60 days of content ingestion (RAG on e-School lessons), Phase 2 is a widget embed with SSO, Phase 3 is the analytics loop. Be explicit: this is a proposed integration path, not a signed workstream. The 10×-cheaper number is a rough ROI estimate — anchor it, don't over-defend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mic-drop slide for the Vodacom room. Six reasons, three of them commercial (bundle revenue, USSD rev-share, VBS data insights), three of them positional (Purpose KPI, youth CAC, regulatory). REHEARSE the bottom banner out loud — 'R1.5M/mo bundle uplift, 25× cheaper CAC, media-worthy Purpose story, for less than a Sunday-supplement ad' — that's the line that lands. Be careful: all the numbers here are projections not signed commitments. R1.5M/mo assumes 30% conversion (industry avg for bundled telco add-ons; we don't have real data yet). The 25× CAC figure compares against Vodacom's public youth-marketing spend reports.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asks, each tied to a partner. Be specific about what each partner gives us — vague asks get vague yeses. Close with the repo URL so judges can run the code themselves.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737360" cy="384048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03110D"/>
                </a:solidFill>
              </a:rPr>
              <a:t>Dell · Hackathon Finalist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6949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FFFFFF"/>
                </a:solidFill>
                <a:latin typeface="Calibri"/>
              </a:rPr>
              <a:t>EduConnect AI Tutor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63240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9CFF8C"/>
                </a:solidFill>
                <a:latin typeface="Calibri"/>
              </a:rPr>
              <a:t>Every learner. Every language. Every phone.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79476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869680" y="1188720"/>
            <a:ext cx="1828800" cy="3840480"/>
          </a:xfrm>
          <a:prstGeom prst="roundRect">
            <a:avLst/>
          </a:prstGeom>
          <a:solidFill>
            <a:srgbClr val="03110D"/>
          </a:solidFill>
          <a:ln w="2540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9098280" y="1371600"/>
            <a:ext cx="1371600" cy="32004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WhatsApp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59" y="1874519"/>
            <a:ext cx="1005840" cy="4114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03110D"/>
                </a:solidFill>
              </a:rPr>
              <a:t>Solve x²+x-30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18319" y="2423160"/>
            <a:ext cx="1005840" cy="41148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Try factorising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59" y="2971800"/>
            <a:ext cx="1005840" cy="4114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03110D"/>
                </a:solidFill>
              </a:rPr>
              <a:t>(x+6)(x-5)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18319" y="3520439"/>
            <a:ext cx="1005840" cy="41148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✓ 3/3  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3931920"/>
            <a:ext cx="1371600" cy="2743200"/>
          </a:xfrm>
          <a:prstGeom prst="roundRect">
            <a:avLst/>
          </a:prstGeom>
          <a:solidFill>
            <a:srgbClr val="03110D"/>
          </a:solidFill>
          <a:ln w="25400">
            <a:solidFill>
              <a:srgbClr val="FF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195560" y="4251959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9CFF8C"/>
                </a:solidFill>
                <a:latin typeface="Consolas"/>
              </a:rPr>
              <a:t>USSD *123#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4709159"/>
            <a:ext cx="1188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800" b="0">
                <a:solidFill>
                  <a:srgbClr val="9CFF8C"/>
                </a:solidFill>
                <a:latin typeface="Consolas"/>
              </a:rPr>
              <a:t>1. Maths</a:t>
            </a:r>
          </a:p>
          <a:p>
            <a:pPr algn="l">
              <a:spcBef>
                <a:spcPts val="200"/>
              </a:spcBef>
            </a:pPr>
            <a:r>
              <a:rPr sz="800" b="0">
                <a:solidFill>
                  <a:srgbClr val="9CFF8C"/>
                </a:solidFill>
                <a:latin typeface="Consolas"/>
              </a:rPr>
              <a:t>2. Past papers</a:t>
            </a:r>
          </a:p>
          <a:p>
            <a:pPr algn="l">
              <a:spcBef>
                <a:spcPts val="200"/>
              </a:spcBef>
            </a:pPr>
            <a:r>
              <a:rPr sz="800" b="0">
                <a:solidFill>
                  <a:srgbClr val="9CFF8C"/>
                </a:solidFill>
                <a:latin typeface="Consolas"/>
              </a:rPr>
              <a:t>3. Language</a:t>
            </a:r>
          </a:p>
          <a:p>
            <a:pPr algn="l">
              <a:spcBef>
                <a:spcPts val="200"/>
              </a:spcBef>
            </a:pPr>
            <a:r>
              <a:rPr sz="800" b="0">
                <a:solidFill>
                  <a:srgbClr val="9CFF8C"/>
                </a:solidFill>
                <a:latin typeface="Consolas"/>
              </a:rPr>
              <a:t>4. Continue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5560" y="630935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696A0"/>
                </a:solidFill>
                <a:latin typeface="Consolas"/>
              </a:rPr>
              <a:t>Reply: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34924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9EDEF"/>
                </a:solidFill>
                <a:latin typeface="Calibri"/>
              </a:rPr>
              <a:t>A tutor South Africa can actually afford — for the 75% of learners no one else reaches.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1722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FF8C"/>
                </a:solidFill>
                <a:latin typeface="Calibri"/>
              </a:rPr>
              <a:t>Powered by Dell AI Factory  ·  Zero-rate-ready on Vodacom  ·  CAPS-aligned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9224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696A0"/>
                </a:solidFill>
                <a:latin typeface="Calibri"/>
              </a:rPr>
              <a:t>[Team: replace device mockups with real photos of SA learners using the demo — see cover-photo brief]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48640"/>
            <a:ext cx="1463040" cy="4114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Dell · Hackathon Finalist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EduConnect AI Tutor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9CFF8C"/>
                </a:solidFill>
                <a:latin typeface="Calibri"/>
              </a:rPr>
              <a:t>CAPS-aligned. Multilingual. WhatsApp + USSD.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3832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EDEF"/>
                </a:solidFill>
                <a:latin typeface="Calibri"/>
              </a:rPr>
              <a:t>A tutor every South African learner can access — even on a feature phone, even with no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696A0"/>
                </a:solidFill>
                <a:latin typeface="Calibri"/>
              </a:rPr>
              <a:t>Powered by Dell AI Factory  ·  Zero-rate-ready on Vodacom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B347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Most learners get stuck on the same step.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031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9EDEF"/>
                </a:solidFill>
                <a:latin typeface="Calibri"/>
              </a:rPr>
              <a:t>Tutors can't sit with each one. Most can't afford one at all.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108960"/>
            <a:ext cx="3657600" cy="50800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>
                <a:solidFill>
                  <a:srgbClr val="E9EDEF"/>
                </a:solidFill>
                <a:latin typeface="Calibri"/>
              </a:rPr>
              <a:t>• South Africa: Maths NSC pass rate ~55–60%. Bachelor pass ~25–30%.</a:t>
            </a:r>
          </a:p>
          <a:p>
            <a:pPr algn="l">
              <a:spcBef>
                <a:spcPts val="800"/>
              </a:spcBef>
            </a:pPr>
            <a:r>
              <a:rPr sz="1800">
                <a:solidFill>
                  <a:srgbClr val="E9EDEF"/>
                </a:solidFill>
                <a:latin typeface="Calibri"/>
              </a:rPr>
              <a:t>• 5–7 million SA learners own a phone but NOT a smartphone — Meta AI literally cannot reach them.</a:t>
            </a:r>
          </a:p>
          <a:p>
            <a:pPr algn="l">
              <a:spcBef>
                <a:spcPts val="800"/>
              </a:spcBef>
            </a:pPr>
            <a:r>
              <a:rPr sz="1800">
                <a:solidFill>
                  <a:srgbClr val="E9EDEF"/>
                </a:solidFill>
                <a:latin typeface="Calibri"/>
              </a:rPr>
              <a:t>• Private tutoring averages R250–500/hour. Out of reach for Quintile 1–3 learners (the 75% who need it most).</a:t>
            </a:r>
          </a:p>
          <a:p>
            <a:pPr algn="l">
              <a:spcBef>
                <a:spcPts val="800"/>
              </a:spcBef>
            </a:pPr>
            <a:r>
              <a:rPr sz="1800">
                <a:solidFill>
                  <a:srgbClr val="E9EDEF"/>
                </a:solidFill>
                <a:latin typeface="Calibri"/>
              </a:rPr>
              <a:t>• Generic AI gives the answer. Learning never happens.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One brain. Two channels. Every learner.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0312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560320"/>
            <a:ext cx="1280160" cy="45720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WhatsApp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Rich UI: text + image upload of working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11 official SA languages framework · 4 launch-validated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Learner-led: types problem, types working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Diagnoses misconceptions, not just answers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NSC mark-scheme aware (toggle)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Past Papers archive built in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Vodacom WhatsApp bundle R5/mo · zero-rate-ready via Purpose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560320"/>
            <a:ext cx="1280160" cy="45720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USSD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2004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Feature phones — no smartphone required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All 11 official languages on roadmap · 4 launch ready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Same Pythagoras / Area / Algebra / Past Papers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Mark-scheme feedback in 160-char screens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Optional handoff to WhatsApp on request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Effectively zero-rated via aggregator education tier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Reaches learners no other AI can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Solution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Sovereign brain. Deterministic maths. Curriculum-bounded.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965960"/>
            <a:ext cx="2103120" cy="3977639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2788919" y="1965960"/>
            <a:ext cx="1737360" cy="3977639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4937759" y="1965960"/>
            <a:ext cx="2606040" cy="3977639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7955279" y="1965960"/>
            <a:ext cx="2240280" cy="3977639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0607040" y="1965960"/>
            <a:ext cx="1920240" cy="3977639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ight Arrow 9"/>
          <p:cNvSpPr/>
          <p:nvPr/>
        </p:nvSpPr>
        <p:spPr>
          <a:xfrm>
            <a:off x="2423159" y="3771899"/>
            <a:ext cx="320040" cy="365760"/>
          </a:xfrm>
          <a:prstGeom prst="right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4571999" y="3771899"/>
            <a:ext cx="320040" cy="365760"/>
          </a:xfrm>
          <a:prstGeom prst="right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7589519" y="3771899"/>
            <a:ext cx="320040" cy="365760"/>
          </a:xfrm>
          <a:prstGeom prst="right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10241280" y="3771899"/>
            <a:ext cx="320040" cy="365760"/>
          </a:xfrm>
          <a:prstGeom prst="right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057400"/>
            <a:ext cx="1920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1 · Learner + Channel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79" y="2468880"/>
            <a:ext cx="1828799" cy="457200"/>
          </a:xfrm>
          <a:prstGeom prst="roundRect">
            <a:avLst/>
          </a:prstGeom>
          <a:solidFill>
            <a:srgbClr val="0311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0">
                <a:solidFill>
                  <a:srgbClr val="E9EDEF"/>
                </a:solidFill>
              </a:rPr>
              <a:t>📱 Smartphone learner (Thandi)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79" y="3017520"/>
            <a:ext cx="1828799" cy="457200"/>
          </a:xfrm>
          <a:prstGeom prst="roundRect">
            <a:avLst/>
          </a:prstGeom>
          <a:solidFill>
            <a:srgbClr val="0311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0">
                <a:solidFill>
                  <a:srgbClr val="E9EDEF"/>
                </a:solidFill>
              </a:rPr>
              <a:t>📞 Feature-phone learner (Lethabo)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79" y="4114800"/>
            <a:ext cx="1828799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03110D"/>
                </a:solidFill>
              </a:rPr>
              <a:t>WhatsApp Cloud API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79" y="4754879"/>
            <a:ext cx="1828799" cy="50292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03110D"/>
                </a:solidFill>
              </a:rPr>
              <a:t>Africa's Talking USSD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59" y="20574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2 · Public HTTPS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80359" y="3017520"/>
            <a:ext cx="1554480" cy="50292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9CFF8C"/>
                </a:solidFill>
              </a:rPr>
              <a:t>Public HTTPS endpoint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59" y="36118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696A0"/>
                </a:solidFill>
                <a:latin typeface="Calibri"/>
              </a:rPr>
              <a:t>Deployed on Dell AI Factory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59" y="4297679"/>
            <a:ext cx="1554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000" b="0">
                <a:solidFill>
                  <a:srgbClr val="E9EDEF"/>
                </a:solidFill>
                <a:latin typeface="Calibri"/>
              </a:rPr>
              <a:t>• Meta Webhook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E9EDEF"/>
                </a:solidFill>
                <a:latin typeface="Calibri"/>
              </a:rPr>
              <a:t>• USSD Callback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199" y="205740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3 · Tutor Engine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66359" y="2468880"/>
            <a:ext cx="2148840" cy="54864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600" b="1">
                <a:solidFill>
                  <a:srgbClr val="9CFF8C"/>
                </a:solidFill>
              </a:rPr>
              <a:t>Tutor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39" y="3200400"/>
            <a:ext cx="2240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100">
                <a:solidFill>
                  <a:srgbClr val="E9EDEF"/>
                </a:solidFill>
                <a:latin typeface="Calibri"/>
              </a:rPr>
              <a:t>• Channel-agnostic orchestrator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E9EDEF"/>
                </a:solidFill>
                <a:latin typeface="Calibri"/>
              </a:rPr>
              <a:t>• Session state (Redis in production)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E9EDEF"/>
                </a:solidFill>
                <a:latin typeface="Calibri"/>
              </a:rPr>
              <a:t>• Language routing + i18n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E9EDEF"/>
                </a:solidFill>
                <a:latin typeface="Calibri"/>
              </a:rPr>
              <a:t>• Past-paper mode + NSC marking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19" y="205740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4 · AI Providers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19" y="2468880"/>
            <a:ext cx="2057400" cy="68580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🧠 Reasoning LLM  ·  GPT-OSS 120B (Dell NIM)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19" y="3246120"/>
            <a:ext cx="2057400" cy="68580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👁️ Vision VLM  ·  Llama 4 Scout (Dell NIM)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19" y="4023360"/>
            <a:ext cx="2057400" cy="68580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🌐 Translation  ·  Same LLM, 11 SA languages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19" y="4800600"/>
            <a:ext cx="2057400" cy="68580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📚 Verified maths + memos  ·  deterministic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0" y="20574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5 · Knowledge Base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698480" y="2468880"/>
            <a:ext cx="1737360" cy="50292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9CFF8C"/>
                </a:solidFill>
              </a:rPr>
              <a:t>Public + curated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3108960"/>
            <a:ext cx="1737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900">
                <a:solidFill>
                  <a:srgbClr val="E9EDEF"/>
                </a:solidFill>
                <a:latin typeface="Calibri"/>
              </a:rPr>
              <a:t>• CAPS Mathematics — DBE education.gov.za</a:t>
            </a:r>
          </a:p>
          <a:p>
            <a:pPr algn="l">
              <a:spcBef>
                <a:spcPts val="400"/>
              </a:spcBef>
            </a:pPr>
            <a:r>
              <a:rPr sz="900">
                <a:solidFill>
                  <a:srgbClr val="E9EDEF"/>
                </a:solidFill>
                <a:latin typeface="Calibri"/>
              </a:rPr>
              <a:t>• NSC past papers + memos — DBE archives</a:t>
            </a:r>
          </a:p>
          <a:p>
            <a:pPr algn="l">
              <a:spcBef>
                <a:spcPts val="400"/>
              </a:spcBef>
            </a:pPr>
            <a:r>
              <a:rPr sz="900">
                <a:solidFill>
                  <a:srgbClr val="E9EDEF"/>
                </a:solidFill>
                <a:latin typeface="Calibri"/>
              </a:rPr>
              <a:t>• Provincial ATPs — WCED, GP, KZN, FS, LP, NW</a:t>
            </a:r>
          </a:p>
          <a:p>
            <a:pPr algn="l">
              <a:spcBef>
                <a:spcPts val="400"/>
              </a:spcBef>
            </a:pPr>
            <a:r>
              <a:rPr sz="900">
                <a:solidFill>
                  <a:srgbClr val="E9EDEF"/>
                </a:solidFill>
                <a:latin typeface="Calibri"/>
              </a:rPr>
              <a:t>• Siyavula textbooks (CC-BY optional)</a:t>
            </a:r>
          </a:p>
          <a:p>
            <a:pPr algn="l">
              <a:spcBef>
                <a:spcPts val="400"/>
              </a:spcBef>
            </a:pPr>
            <a:r>
              <a:rPr sz="900">
                <a:solidFill>
                  <a:srgbClr val="E9EDEF"/>
                </a:solidFill>
                <a:latin typeface="Calibri"/>
              </a:rPr>
              <a:t>• Educator advisory board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8696A0"/>
                </a:solidFill>
                <a:latin typeface="Calibri"/>
              </a:rPr>
              <a:t>All data stays in South Africa  ·  POPIA-aligned  ·  No conversation ever trains a foreign model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Demo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One learner journey. Six screens. Every phone.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9536" y="1874519"/>
            <a:ext cx="384048" cy="384048"/>
          </a:xfrm>
          <a:prstGeom prst="ellipse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320040" y="2468879"/>
            <a:ext cx="1463039" cy="32004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CHOOSE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LANG: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&gt; Sepedi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GRADE: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&gt; 11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[ Continue ▶ ]</a:t>
            </a:r>
          </a:p>
        </p:txBody>
      </p:sp>
      <p:sp>
        <p:nvSpPr>
          <p:cNvPr id="9" name="Oval 8"/>
          <p:cNvSpPr/>
          <p:nvPr/>
        </p:nvSpPr>
        <p:spPr>
          <a:xfrm>
            <a:off x="2876702" y="1874519"/>
            <a:ext cx="384048" cy="384048"/>
          </a:xfrm>
          <a:prstGeom prst="ellipse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00046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2337206" y="2468879"/>
            <a:ext cx="1463039" cy="32004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PICK PAPER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2926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📄 2026 NW June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  ▶ Paper 1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     ▶ Q1.1.1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       (3 marks)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[ Open ▶ ]</a:t>
            </a:r>
          </a:p>
        </p:txBody>
      </p:sp>
      <p:sp>
        <p:nvSpPr>
          <p:cNvPr id="13" name="Oval 12"/>
          <p:cNvSpPr/>
          <p:nvPr/>
        </p:nvSpPr>
        <p:spPr>
          <a:xfrm>
            <a:off x="4893868" y="1874519"/>
            <a:ext cx="384048" cy="384048"/>
          </a:xfrm>
          <a:prstGeom prst="ellipse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17212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4354372" y="2468879"/>
            <a:ext cx="1463039" cy="32004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QUESTION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0092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QUESTION 1.1.1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· 3 marks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Solve for x: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x² + x - 30 = 0</a:t>
            </a:r>
          </a:p>
        </p:txBody>
      </p:sp>
      <p:sp>
        <p:nvSpPr>
          <p:cNvPr id="17" name="Oval 16"/>
          <p:cNvSpPr/>
          <p:nvPr/>
        </p:nvSpPr>
        <p:spPr>
          <a:xfrm>
            <a:off x="6911035" y="1874519"/>
            <a:ext cx="384048" cy="384048"/>
          </a:xfrm>
          <a:prstGeom prst="ellipse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4379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371539" y="2468879"/>
            <a:ext cx="1463039" cy="32004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WORKING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7259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Your working: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&gt; x = -3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[ Send ✓ ]</a:t>
            </a:r>
          </a:p>
        </p:txBody>
      </p:sp>
      <p:sp>
        <p:nvSpPr>
          <p:cNvPr id="21" name="Oval 20"/>
          <p:cNvSpPr/>
          <p:nvPr/>
        </p:nvSpPr>
        <p:spPr>
          <a:xfrm>
            <a:off x="8928201" y="1874519"/>
            <a:ext cx="384048" cy="384048"/>
          </a:xfrm>
          <a:prstGeom prst="ellipse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51545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8388705" y="2468879"/>
            <a:ext cx="1463039" cy="32004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DIAGNOSE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4425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NSC marking: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0 / 3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Re-check your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working...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Hint: factorise.</a:t>
            </a:r>
          </a:p>
        </p:txBody>
      </p:sp>
      <p:sp>
        <p:nvSpPr>
          <p:cNvPr id="25" name="Oval 24"/>
          <p:cNvSpPr/>
          <p:nvPr/>
        </p:nvSpPr>
        <p:spPr>
          <a:xfrm>
            <a:off x="10945367" y="1874519"/>
            <a:ext cx="384048" cy="384048"/>
          </a:xfrm>
          <a:prstGeom prst="ellipse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68712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10405872" y="2468879"/>
            <a:ext cx="1463039" cy="32004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MEMO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51592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✓✓✓ 3/3  ★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Factorise: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(x+6)(x-5) = 0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x = -6 or x = 5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📄 NSC P1 Q1.1.1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274320" y="5440680"/>
            <a:ext cx="11640312" cy="256032"/>
          </a:xfrm>
          <a:prstGeom prst="rightArrow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CFF8C"/>
                </a:solidFill>
                <a:latin typeface="Calibri"/>
              </a:rPr>
              <a:t>One learner journey  ·  90 seconds  ·  zero cost  ·  every phone in South Africa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AI/LLM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Sovereign, open-weight, swap-able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Text Reasoning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5257800" cy="54864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600" b="1">
                <a:solidFill>
                  <a:srgbClr val="03110D"/>
                </a:solidFill>
              </a:rPr>
              <a:t>🧠 openai/gpt-oss-120b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257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120B params, mixture-of-experts, open-weight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Apache 2.0 · self-hostable on Dell hardware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Handles: factorisation, trig, calculus, Socratic dialogue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Wrapped by CAPS system prompts (NSC mark codes)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Pilot: Groq API (~500 tok/s, free tier)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Production: Dell AI Factory NIM (in-country)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96596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Vision / Multimodal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2468880"/>
            <a:ext cx="5257800" cy="54864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600" b="1">
                <a:solidFill>
                  <a:srgbClr val="03110D"/>
                </a:solidFill>
              </a:rPr>
              <a:t>👁️ Meta Llama 4 Scout 17B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3200400"/>
            <a:ext cx="5257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Multimodal — text + image in one endpoint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Reads geometry diagrams, handwritten working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Textbook page snapshots, whiteboard photos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Same OpenAI-compatible API as reasoning LLM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Pilot: Groq API (free)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Production: Dell AI Factory NIM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989320"/>
            <a:ext cx="11064240" cy="548640"/>
          </a:xfrm>
          <a:prstGeom prst="roundRect">
            <a:avLst/>
          </a:prstGeom>
          <a:solidFill>
            <a:srgbClr val="111B21"/>
          </a:solidFill>
          <a:ln w="1270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48640" y="6080759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9CFF8C"/>
                </a:solidFill>
                <a:latin typeface="Calibri"/>
              </a:rPr>
              <a:t>Why open-weight Llama over GPT-4/Claude/Gemini: POPIA sovereignty · no vendor lock-in · zero pilot cost · fully auditable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CAPS Alignment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How the AI stays faithful to the DBE curriculum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6583680" cy="868680"/>
          </a:xfrm>
          <a:prstGeom prst="roundRect">
            <a:avLst/>
          </a:prstGeom>
          <a:solidFill>
            <a:srgbClr val="1A2A33"/>
          </a:solidFill>
          <a:ln w="1270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Layer 4 · Fine-tune on Dell AI Factory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21408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696A0"/>
                </a:solidFill>
                <a:latin typeface="Calibri"/>
              </a:rPr>
              <a:t>LoRA on gpt-oss-120b, trained on educator-reviewed pilot data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0" y="2011679"/>
            <a:ext cx="1554480" cy="36576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1">
                <a:solidFill>
                  <a:srgbClr val="8696A0"/>
                </a:solidFill>
              </a:rPr>
              <a:t>POST-PILOT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43200"/>
            <a:ext cx="6583680" cy="868680"/>
          </a:xfrm>
          <a:prstGeom prst="roundRect">
            <a:avLst/>
          </a:prstGeom>
          <a:solidFill>
            <a:srgbClr val="1D303C"/>
          </a:solidFill>
          <a:ln w="1270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Layer 3 · RAG over DBE CAPS PDF + NSC past papers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127248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696A0"/>
                </a:solidFill>
                <a:latin typeface="Calibri"/>
              </a:rPr>
              <a:t>Retrieval-augmented generation · in-country vector DB · cite section numbers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94960" y="3017520"/>
            <a:ext cx="1554480" cy="36576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1">
                <a:solidFill>
                  <a:srgbClr val="FFE9B8"/>
                </a:solidFill>
              </a:rPr>
              <a:t>SPONSORED PILOT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49039"/>
            <a:ext cx="6583680" cy="868680"/>
          </a:xfrm>
          <a:prstGeom prst="roundRect">
            <a:avLst/>
          </a:prstGeom>
          <a:solidFill>
            <a:srgbClr val="213845"/>
          </a:solidFill>
          <a:ln w="1270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3794759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Layer 2 · Curriculum knowledge base + topic classifier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133087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696A0"/>
                </a:solidFill>
                <a:latin typeface="Calibri"/>
              </a:rPr>
              <a:t>Grade × topic scope + sub-skills injected into every prompt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94960" y="4023359"/>
            <a:ext cx="1554480" cy="36576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1">
                <a:solidFill>
                  <a:srgbClr val="FFE9B8"/>
                </a:solidFill>
              </a:rPr>
              <a:t>NEXT SPRINT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754879"/>
            <a:ext cx="6583680" cy="868680"/>
          </a:xfrm>
          <a:prstGeom prst="roundRect">
            <a:avLst/>
          </a:prstGeom>
          <a:solidFill>
            <a:srgbClr val="00A884"/>
          </a:solidFill>
          <a:ln w="25400">
            <a:solidFill>
              <a:srgbClr val="9CF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4800599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3110D"/>
                </a:solidFill>
                <a:latin typeface="Calibri"/>
              </a:rPr>
              <a:t>★ Layer 1 · CAPS system-prompt engineering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138927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3110D"/>
                </a:solidFill>
                <a:latin typeface="Calibri"/>
              </a:rPr>
              <a:t>NSC (M)/(A)/(CA) mark codes · exact-form notation · DBE phrasing · grade scope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94960" y="5029199"/>
            <a:ext cx="1554480" cy="365760"/>
          </a:xfrm>
          <a:prstGeom prst="roundRect">
            <a:avLst/>
          </a:prstGeom>
          <a:solidFill>
            <a:srgbClr val="0311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9CFF8C"/>
                </a:solidFill>
              </a:rPr>
              <a:t>★ LIVE 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1737360"/>
            <a:ext cx="4160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696A0"/>
                </a:solidFill>
                <a:latin typeface="Calibri"/>
              </a:rPr>
              <a:t>Before Layer 1 (raw LLM)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52360" y="2148840"/>
            <a:ext cx="4160520" cy="1508760"/>
          </a:xfrm>
          <a:prstGeom prst="roundRect">
            <a:avLst/>
          </a:prstGeom>
          <a:solidFill>
            <a:srgbClr val="111B21"/>
          </a:solidFill>
          <a:ln w="1270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589520" y="2240280"/>
            <a:ext cx="3886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9EDEF"/>
                </a:solidFill>
                <a:latin typeface="Calibri"/>
              </a:rPr>
              <a:t>Solve 2x² − 5x − 3 = 0
Using the quadratic formula,
x = (5 ± √49) / 4
So x = 3 or x = −0.5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3794760"/>
            <a:ext cx="4160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CFF8C"/>
                </a:solidFill>
                <a:latin typeface="Calibri"/>
              </a:rPr>
              <a:t>After Layer 1 (CAPS-wrapped)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52360" y="4206240"/>
            <a:ext cx="4160520" cy="1965960"/>
          </a:xfrm>
          <a:prstGeom prst="roundRect">
            <a:avLst/>
          </a:prstGeom>
          <a:solidFill>
            <a:srgbClr val="111B21"/>
          </a:solidFill>
          <a:ln w="2540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589520" y="4297680"/>
            <a:ext cx="38862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CFF8C"/>
                </a:solidFill>
                <a:latin typeface="Calibri"/>
              </a:rPr>
              <a:t>Solve for x:  2x² − 5x − 3 = 0
b² − 4ac = 25 + 24 = 49    (M)
x = (5 ± √49) / (2·2)        (M)
x = 3  or  x = −½            (A)(A)
(CAPS Grade 11 — Quadratic equations)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Same model. Same question. CAPS-wrapped answers are what NSC markers actually score — that's the moat.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Architecture · 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One request, end-to-end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200400" y="1600200"/>
            <a:ext cx="576072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337560" y="16459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3110D"/>
                </a:solidFill>
                <a:latin typeface="Calibri"/>
              </a:rPr>
              <a:t>1 · Learner input  ·  WhatsApp / USSD / Browser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1892807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03110D"/>
                </a:solidFill>
                <a:latin typeface="Calibri"/>
              </a:rPr>
              <a:t>text · photo · PDF/DOCX · quick-reply button</a:t>
            </a:r>
          </a:p>
        </p:txBody>
      </p:sp>
      <p:sp>
        <p:nvSpPr>
          <p:cNvPr id="8" name="Down Arrow 7"/>
          <p:cNvSpPr/>
          <p:nvPr/>
        </p:nvSpPr>
        <p:spPr>
          <a:xfrm>
            <a:off x="5943600" y="2103120"/>
            <a:ext cx="274320" cy="201168"/>
          </a:xfrm>
          <a:prstGeom prst="down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00400" y="2322576"/>
            <a:ext cx="5760720" cy="50292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337560" y="2368296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3110D"/>
                </a:solidFill>
                <a:latin typeface="Calibri"/>
              </a:rPr>
              <a:t>2 · Channel handler  ·  app/channels/*.py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615184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03110D"/>
                </a:solidFill>
                <a:latin typeface="Calibri"/>
              </a:rPr>
              <a:t>Normalises to InboundMessage schema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43600" y="2825496"/>
            <a:ext cx="274320" cy="201168"/>
          </a:xfrm>
          <a:prstGeom prst="down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200400" y="3044952"/>
            <a:ext cx="5760720" cy="502920"/>
          </a:xfrm>
          <a:prstGeom prst="roundRect">
            <a:avLst/>
          </a:prstGeom>
          <a:solidFill>
            <a:srgbClr val="9CF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337560" y="3090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3110D"/>
                </a:solidFill>
                <a:latin typeface="Calibri"/>
              </a:rPr>
              <a:t>3 · Tutor Engine  ·  app/tutor/engine.py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3337560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03110D"/>
                </a:solidFill>
                <a:latin typeface="Calibri"/>
              </a:rPr>
              <a:t>Routes by input type · session state · language / grade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943600" y="3547872"/>
            <a:ext cx="274320" cy="201168"/>
          </a:xfrm>
          <a:prstGeom prst="down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00400" y="3767328"/>
            <a:ext cx="5760720" cy="685800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291840" y="3803904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CFF8C"/>
                </a:solidFill>
                <a:latin typeface="Calibri"/>
              </a:rPr>
              <a:t>4 · Router decision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10128" y="4023360"/>
            <a:ext cx="1071676" cy="182880"/>
          </a:xfrm>
          <a:prstGeom prst="roundRect">
            <a:avLst/>
          </a:prstGeom>
          <a:solidFill>
            <a:srgbClr val="FFE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/>
          <a:lstStyle/>
          <a:p>
            <a:pPr algn="ctr"/>
            <a:r>
              <a:rPr sz="900" b="1">
                <a:solidFill>
                  <a:srgbClr val="03110D"/>
                </a:solidFill>
                <a:latin typeface="Calibri"/>
              </a:rPr>
              <a:t>📝 Past-paper?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4224528"/>
            <a:ext cx="10716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696A0"/>
                </a:solidFill>
                <a:latin typeface="Calibri"/>
              </a:rPr>
              <a:t>canonical answer + memo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27524" y="4023360"/>
            <a:ext cx="1071676" cy="182880"/>
          </a:xfrm>
          <a:prstGeom prst="roundRect">
            <a:avLst/>
          </a:prstGeom>
          <a:solidFill>
            <a:srgbClr val="66B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/>
          <a:lstStyle/>
          <a:p>
            <a:pPr algn="ctr"/>
            <a:r>
              <a:rPr sz="900" b="1">
                <a:solidFill>
                  <a:srgbClr val="03110D"/>
                </a:solidFill>
                <a:latin typeface="Calibri"/>
              </a:rPr>
              <a:t>🧮 Arithmetic?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7524" y="4224528"/>
            <a:ext cx="10716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696A0"/>
                </a:solidFill>
                <a:latin typeface="Calibri"/>
              </a:rPr>
              <a:t>deterministic evaluator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44921" y="4023360"/>
            <a:ext cx="1071676" cy="1828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/>
          <a:lstStyle/>
          <a:p>
            <a:pPr algn="ctr"/>
            <a:r>
              <a:rPr sz="900" b="1">
                <a:solidFill>
                  <a:srgbClr val="03110D"/>
                </a:solidFill>
                <a:latin typeface="Calibri"/>
              </a:rPr>
              <a:t>🔤 Equation?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44921" y="4224528"/>
            <a:ext cx="10716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696A0"/>
                </a:solidFill>
                <a:latin typeface="Calibri"/>
              </a:rPr>
              <a:t>math_analyzer (Python)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62318" y="4023360"/>
            <a:ext cx="1071676" cy="182880"/>
          </a:xfrm>
          <a:prstGeom prst="roundRect">
            <a:avLst/>
          </a:prstGeom>
          <a:solidFill>
            <a:srgbClr val="C8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/>
          <a:lstStyle/>
          <a:p>
            <a:pPr algn="ctr"/>
            <a:r>
              <a:rPr sz="900" b="1">
                <a:solidFill>
                  <a:srgbClr val="03110D"/>
                </a:solidFill>
                <a:latin typeface="Calibri"/>
              </a:rPr>
              <a:t>🖼️ Image?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2318" y="4224528"/>
            <a:ext cx="10716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696A0"/>
                </a:solidFill>
                <a:latin typeface="Calibri"/>
              </a:rPr>
              <a:t>vision LLM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9715" y="4023360"/>
            <a:ext cx="1071676" cy="1828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/>
          <a:lstStyle/>
          <a:p>
            <a:pPr algn="ctr"/>
            <a:r>
              <a:rPr sz="900" b="1">
                <a:solidFill>
                  <a:srgbClr val="03110D"/>
                </a:solidFill>
                <a:latin typeface="Calibri"/>
              </a:rPr>
              <a:t>📄 Doc?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9715" y="4224528"/>
            <a:ext cx="10716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696A0"/>
                </a:solidFill>
                <a:latin typeface="Calibri"/>
              </a:rPr>
              <a:t>PDF/DOCX → LLM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5943600" y="4453128"/>
            <a:ext cx="274320" cy="201168"/>
          </a:xfrm>
          <a:prstGeom prst="down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200400" y="4672584"/>
            <a:ext cx="5760720" cy="502920"/>
          </a:xfrm>
          <a:prstGeom prst="roundRect">
            <a:avLst/>
          </a:prstGeom>
          <a:solidFill>
            <a:srgbClr val="111B21"/>
          </a:solidFill>
          <a:ln w="1270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337560" y="47183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CFF8C"/>
                </a:solidFill>
                <a:latin typeface="Calibri"/>
              </a:rPr>
              <a:t>5 · AI Providers  ·  app/providers/*.py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37560" y="4965192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CFF8C"/>
                </a:solidFill>
                <a:latin typeface="Calibri"/>
              </a:rPr>
              <a:t>Reasoning · Vision · Translation (all pluggable)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35440" y="4718304"/>
            <a:ext cx="2880360" cy="4114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03110D"/>
                </a:solidFill>
              </a:rPr>
              <a:t>Groq / Dell AI Factory NIM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961120" y="4832604"/>
            <a:ext cx="274320" cy="182880"/>
          </a:xfrm>
          <a:prstGeom prst="right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own Arrow 34"/>
          <p:cNvSpPr/>
          <p:nvPr/>
        </p:nvSpPr>
        <p:spPr>
          <a:xfrm>
            <a:off x="5943600" y="5175504"/>
            <a:ext cx="274320" cy="201168"/>
          </a:xfrm>
          <a:prstGeom prst="down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200400" y="5394960"/>
            <a:ext cx="576072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337560" y="5440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3110D"/>
                </a:solidFill>
                <a:latin typeface="Calibri"/>
              </a:rPr>
              <a:t>6 · Response back to learner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37560" y="5687568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03110D"/>
                </a:solidFill>
                <a:latin typeface="Calibri"/>
              </a:rPr>
              <a:t>TutorResponse → Channel serialiser → learner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6263640"/>
            <a:ext cx="11064240" cy="411480"/>
          </a:xfrm>
          <a:prstGeom prst="roundRect">
            <a:avLst/>
          </a:prstGeom>
          <a:solidFill>
            <a:srgbClr val="111B21"/>
          </a:solidFill>
          <a:ln w="1270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48640" y="6318503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9CFF8C"/>
                </a:solidFill>
                <a:latin typeface="Calibri"/>
              </a:rPr>
              <a:t>Every layer swappable · Every input format supported · No hallucination on deterministic maths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Why this is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Not a chatbot. A specialised SA tutor.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6A0"/>
                </a:solidFill>
                <a:latin typeface="Calibri"/>
              </a:rPr>
              <a:t>Generic AI gives the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2560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We refuse to — pedagogy enforced in code, not in a prompt.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461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6A0"/>
                </a:solidFill>
                <a:latin typeface="Calibri"/>
              </a:rPr>
              <a:t>Generic AI marks right or wrong.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32461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We diagnose the exact step where thinking broke + the misconception.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6A0"/>
                </a:solidFill>
                <a:latin typeface="Calibri"/>
              </a:rPr>
              <a:t>Generic AI knows everything.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3931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We are bounded to CAPS — auditable by DBE, editable by educators.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6177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6A0"/>
                </a:solidFill>
                <a:latin typeface="Calibri"/>
              </a:rPr>
              <a:t>Generic AI needs a smartphone.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46177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USSD reaches feature phones. 5-7M SA learners Meta cannot serve.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035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6A0"/>
                </a:solidFill>
                <a:latin typeface="Calibri"/>
              </a:rPr>
              <a:t>Generic AI's data leaves SA.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53035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We run on Dell AI Factory in country. POPIA-aligned. Sovereign.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B347"/>
                </a:solidFill>
                <a:latin typeface="Calibri"/>
              </a:rPr>
              <a:t>Will it work?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Yes — as a complement, not a replacement.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A884"/>
                </a:solidFill>
                <a:latin typeface="Calibri"/>
              </a:rPr>
              <a:t>Why we expect uplift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34640"/>
            <a:ext cx="11064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Diagnostic feedback has the highest effect size in education research (Hattie, d ≈ 0.7-1.0).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Past-paper practice is the single best predictor of NSC outcomes — we give every learner the full archive, free.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Mother-tongue access reduces cognitive load — we deliver in en/af/zu/xh.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Mark-scheme awareness teaches learners to write for the marker, not just to compute.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E9B8"/>
                </a:solidFill>
                <a:latin typeface="Calibri"/>
              </a:rPr>
              <a:t>Honest target: +5-15 percentage points on Maths NSC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696A0"/>
                </a:solidFill>
                <a:latin typeface="Calibri"/>
              </a:rPr>
              <a:t>What we will NOT claim: that we replace teachers, fix poverty, or substitute for actual practice. We measure outcomes, publish quarterly, and refuse to overclaim.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Who is this for?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Phase 1: Quintile 1–3 NSC learners.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3931920" cy="45720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Persona · Thandi (WhatsApp)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Grade 11 · Soweto · isiZulu first-language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Mother is a domestic worker. Father unemployed.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Basic Android + Vodacom social bundle.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Currently averaging 50%. Wants a bachelor pass.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Uses our tutor on WhatsApp at night, mostly text.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468880"/>
            <a:ext cx="3931920" cy="45720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Persona · Lethabo (USSD)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01752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Grade 12 · rural Limpopo · Sepedi first-language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Lives with grandmother. No parents.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Nokia feature phone — no smartphone.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65% mid-year. Wants 70%+ for accounting at UJ.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Uses our tutor on USSD at school in free periods.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696A0"/>
                </a:solidFill>
                <a:latin typeface="Calibri"/>
              </a:rPr>
              <a:t>Phase 2: Grades 8–10 + Maths Literacy. Phase 3: Sciences, Accounting, 11 official spoken languages + SA Sign Language (video channel).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Equality · Safety · Trust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Built right, not built fast.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1463040" cy="4114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Equality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3657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Two channels — never device-locked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Near-zero learner cost · zero-rate-ready on Vodacom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4 validated + 7 first-pass + SA Sign Language = 12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Identical brain on both channels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No premium tier — design constraint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468880"/>
            <a:ext cx="1463040" cy="4114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Safety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3017520"/>
            <a:ext cx="3657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CAPS-bounded — no off-topic chat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Verified maths in code, not LLM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POPIA-aligned, SA-hosted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No PII beyond phone number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Reporting → real educator escalation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2468880"/>
            <a:ext cx="1463040" cy="411480"/>
          </a:xfrm>
          <a:prstGeom prst="roundRect">
            <a:avLst/>
          </a:prstGeom>
          <a:solidFill>
            <a:srgbClr val="9CF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Trust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017520"/>
            <a:ext cx="3657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Sources cited on every screen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CAPS topic + sub-skill labelled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Educator-editable curriculum file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Refuses to give final answers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Quarterly public impact reports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E9B8"/>
                </a:solidFill>
                <a:latin typeface="Calibri"/>
              </a:rPr>
              <a:t>Refusing a premium tier is a design constraint, not an oversight.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Cybersecurity &amp; data protection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POPIA-aligned. SA-hostable. Learner-safe by design.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1737360" cy="4114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Built today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920240"/>
            <a:ext cx="2926080" cy="4114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Ships in Phase 1 with Vodacom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460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300">
                <a:solidFill>
                  <a:srgbClr val="E9EDEF"/>
                </a:solidFill>
                <a:latin typeface="Calibri"/>
              </a:rPr>
              <a:t>✓ HTTPS everywhere (TLS 1.3 via Render)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E9EDEF"/>
                </a:solidFill>
                <a:latin typeface="Calibri"/>
              </a:rPr>
              <a:t>✓ Minimal PII: phone + grade + language only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E9EDEF"/>
                </a:solidFill>
                <a:latin typeface="Calibri"/>
              </a:rPr>
              <a:t>✓ No password / no account → no credential to steal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E9EDEF"/>
                </a:solidFill>
                <a:latin typeface="Calibri"/>
              </a:rPr>
              <a:t>✓ Platform-level content filter (violence/CSAM auto-blocked)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E9EDEF"/>
                </a:solidFill>
                <a:latin typeface="Calibri"/>
              </a:rPr>
              <a:t>✓ Rate-limiter + in-flight lock (spam-resistant)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E9EDEF"/>
                </a:solidFill>
                <a:latin typeface="Calibri"/>
              </a:rPr>
              <a:t>✓ Structured errors — never leaks keys / DB paths / stack traces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E9EDEF"/>
                </a:solidFill>
                <a:latin typeface="Calibri"/>
              </a:rPr>
              <a:t>✓ Analytics logs the FACT of interaction, never raw learner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51460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300">
                <a:solidFill>
                  <a:srgbClr val="E9EDEF"/>
                </a:solidFill>
                <a:latin typeface="Calibri"/>
              </a:rPr>
              <a:t>→ POPIA consent flow (U18 parental gate)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E9EDEF"/>
                </a:solidFill>
                <a:latin typeface="Calibri"/>
              </a:rPr>
              <a:t>→ Encryption at rest (PostgreSQL, column-level)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E9EDEF"/>
                </a:solidFill>
                <a:latin typeface="Calibri"/>
              </a:rPr>
              <a:t>→ SA data residency (Vodacom Cloud or Dell AI Factory SA)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E9EDEF"/>
                </a:solidFill>
                <a:latin typeface="Calibri"/>
              </a:rPr>
              <a:t>→ 7-year immutable audit trail (POPIA retention)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E9EDEF"/>
                </a:solidFill>
                <a:latin typeface="Calibri"/>
              </a:rPr>
              <a:t>→ Crisis-keyword detector + safeguarding-lead escalation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E9EDEF"/>
                </a:solidFill>
                <a:latin typeface="Calibri"/>
              </a:rPr>
              <a:t>→ Non-maths image classifier — refuses off-topic uploads politely</a:t>
            </a:r>
          </a:p>
          <a:p>
            <a:pPr algn="l">
              <a:spcBef>
                <a:spcPts val="600"/>
              </a:spcBef>
            </a:pPr>
            <a:r>
              <a:rPr sz="1300">
                <a:solidFill>
                  <a:srgbClr val="E9EDEF"/>
                </a:solidFill>
                <a:latin typeface="Calibri"/>
              </a:rPr>
              <a:t>→ Named DPO alignment + Data Processing Agreement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6263640"/>
            <a:ext cx="11064240" cy="411480"/>
          </a:xfrm>
          <a:prstGeom prst="roundRect">
            <a:avLst/>
          </a:prstGeom>
          <a:solidFill>
            <a:srgbClr val="111B21"/>
          </a:solidFill>
          <a:ln w="1270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48640" y="6318503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9CFF8C"/>
                </a:solidFill>
                <a:latin typeface="Calibri"/>
              </a:rPr>
              <a:t>All right-side items are 1–2 day engineering tasks. Deliberately deferred to align with Vodacom's DPO framework and hosting choice.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From hackathon prototype to national pilot.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1371600" cy="4114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Hackathon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Both channels working end-to-end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Real NSC questions, cited sources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CAPS mappings against ATPs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Mock providers (offline demo)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468880"/>
            <a:ext cx="1371600" cy="4114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Q3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24688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31089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Dell AI Factory LLM + VLM live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Vodacom WhatsApp + USSD partnership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5 schools across 2 provinces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Educator advisory board (4-6 teachers)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468880"/>
            <a:ext cx="1371600" cy="4114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24688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1089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All 11 official spoken languages educator-validated + SA Sign Language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Maths Lit, Sciences, Accounting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Class-level analytics for teachers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DBE adoption discussions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R15–R25 today. R2 target — with Dell + Vodacom in place.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11064240" cy="1234440"/>
          </a:xfrm>
          <a:prstGeom prst="roundRect">
            <a:avLst/>
          </a:prstGeom>
          <a:solidFill>
            <a:srgbClr val="111B21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2011679"/>
            <a:ext cx="3688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8696A0"/>
                </a:solidFill>
                <a:latin typeface="Calibri"/>
              </a:rPr>
              <a:t>TODAY · UNSUBSIDISED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31720"/>
            <a:ext cx="3688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~R15–R25 / yr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6720" y="2011679"/>
            <a:ext cx="3688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8696A0"/>
                </a:solidFill>
                <a:latin typeface="Calibri"/>
              </a:rPr>
              <a:t>TARGET · DELL + VODACOM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36720" y="2331720"/>
            <a:ext cx="3688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9CFF8C"/>
                </a:solidFill>
                <a:latin typeface="Calibri"/>
              </a:rPr>
              <a:t>~R2 / 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799" y="2011679"/>
            <a:ext cx="3688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8696A0"/>
                </a:solidFill>
                <a:latin typeface="Calibri"/>
              </a:rPr>
              <a:t>PRIVATE TUTOR EQUIV.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799" y="2331720"/>
            <a:ext cx="3688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E9B8"/>
                </a:solidFill>
                <a:latin typeface="Calibri"/>
              </a:rPr>
              <a:t>R16,000 / yr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918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CFF8C"/>
                </a:solidFill>
                <a:latin typeface="Calibri"/>
              </a:rPr>
              <a:t>Today's cost breakdown (unsubsidised)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703320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100">
                <a:solidFill>
                  <a:srgbClr val="E9EDEF"/>
                </a:solidFill>
                <a:latin typeface="Calibri"/>
              </a:rPr>
              <a:t>• LLM tokens (Gemini Flash-Lite): ~R3–R10 / learner / yr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E9EDEF"/>
                </a:solidFill>
                <a:latin typeface="Calibri"/>
              </a:rPr>
              <a:t>• USSD aggregator (per session): ~R5–R10 / learner / yr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E9EDEF"/>
                </a:solidFill>
                <a:latin typeface="Calibri"/>
              </a:rPr>
              <a:t>• WhatsApp Cloud API: ~R2–R4 / learner / yr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E9EDEF"/>
                </a:solidFill>
                <a:latin typeface="Calibri"/>
              </a:rPr>
              <a:t>• Hosting + Postgres + Redis: ~R2–R4 / learner / yr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E9EDEF"/>
                </a:solidFill>
                <a:latin typeface="Calibri"/>
              </a:rPr>
              <a:t>• Analytics + monitoring + SMS OTP: ~R1–R2 / learner / yr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E9EDEF"/>
                </a:solidFill>
                <a:latin typeface="Calibri"/>
              </a:rPr>
              <a:t>• Path to R2: Dell NIM hardware + Vodacom absorbs USSD/data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2918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CFF8C"/>
                </a:solidFill>
                <a:latin typeface="Calibri"/>
              </a:rPr>
              <a:t>ROI vs. what SA learners have today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3703320"/>
            <a:ext cx="2834640" cy="347472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E9EDEF"/>
                </a:solidFill>
              </a:rPr>
              <a:t>Private tutor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26880" y="3703320"/>
            <a:ext cx="2377440" cy="347472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03110D"/>
                </a:solidFill>
              </a:rPr>
              <a:t>R16,000 / yr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151376"/>
            <a:ext cx="2834640" cy="347472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E9EDEF"/>
                </a:solidFill>
              </a:rPr>
              <a:t>Extra textbook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26880" y="4151376"/>
            <a:ext cx="2377440" cy="347472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03110D"/>
                </a:solidFill>
              </a:rPr>
              <a:t>R400 (one-off)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599432"/>
            <a:ext cx="2834640" cy="347472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E9EDEF"/>
                </a:solidFill>
              </a:rPr>
              <a:t>Nothing (status quo)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4599432"/>
            <a:ext cx="2377440" cy="347472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03110D"/>
                </a:solidFill>
              </a:rPr>
              <a:t>R0 · fails 50%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5047488"/>
            <a:ext cx="2834640" cy="347472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E9EDEF"/>
                </a:solidFill>
              </a:rPr>
              <a:t>EduConnect (today)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26880" y="5047488"/>
            <a:ext cx="2377440" cy="347472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03110D"/>
                </a:solidFill>
              </a:rPr>
              <a:t>~R20 / yr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5495544"/>
            <a:ext cx="2834640" cy="347472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E9EDEF"/>
                </a:solidFill>
              </a:rPr>
              <a:t>EduConnect (target)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6880" y="5495544"/>
            <a:ext cx="2377440" cy="347472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03110D"/>
                </a:solidFill>
              </a:rPr>
              <a:t>R2 / yr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989320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696A0"/>
                </a:solidFill>
                <a:latin typeface="Calibri"/>
              </a:rPr>
              <a:t>Assumes: ~100 sessions/learner/year (unvalidated) · Dell hardware sponsorship + Vodacom absorbing USSD/data to reach the R2 target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6263640"/>
            <a:ext cx="11064240" cy="411480"/>
          </a:xfrm>
          <a:prstGeom prst="roundRect">
            <a:avLst/>
          </a:prstGeom>
          <a:solidFill>
            <a:srgbClr val="111B21"/>
          </a:solidFill>
          <a:ln w="19050">
            <a:solidFill>
              <a:srgbClr val="FF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48640" y="6318503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E9B8"/>
                </a:solidFill>
                <a:latin typeface="Calibri"/>
              </a:rPr>
              <a:t>Even at 10× today's cost (~R200/yr), we're still 80× cheaper than a tutor. 1 extra matric pass = ~R150k lifetime earnings uplift — break-even at ~1 pass per 75k learners.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AI model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One brain. Four provider options. Zero rewrites.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696A0"/>
                </a:solidFill>
                <a:latin typeface="Calibri"/>
              </a:rPr>
              <a:t>Real-time options (all OpenAI-compatible — no code changes to switch)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11064240" cy="411480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85800" y="213055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Provider ·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213055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Cost / 1M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2130552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TPM cap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0" y="2130552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Best for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542032"/>
            <a:ext cx="11064240" cy="658368"/>
          </a:xfrm>
          <a:prstGeom prst="roundRect">
            <a:avLst/>
          </a:prstGeom>
          <a:solidFill>
            <a:srgbClr val="00A884"/>
          </a:solidFill>
          <a:ln w="12700">
            <a:solidFill>
              <a:srgbClr val="9CF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2706624"/>
            <a:ext cx="4114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3110D"/>
                </a:solidFill>
                <a:latin typeface="Calibri"/>
              </a:rPr>
              <a:t>Gemini 3.5 Flash-Lite · Google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706624"/>
            <a:ext cx="1737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3110D"/>
                </a:solidFill>
                <a:latin typeface="Calibri"/>
              </a:rPr>
              <a:t>R2 (~$0.10)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2706624"/>
            <a:ext cx="146303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3110D"/>
                </a:solidFill>
                <a:latin typeface="Calibri"/>
              </a:rPr>
              <a:t>250,000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2706624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3110D"/>
                </a:solidFill>
                <a:latin typeface="Calibri"/>
              </a:rPr>
              <a:t>PILOT · what we run today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273552"/>
            <a:ext cx="11064240" cy="658368"/>
          </a:xfrm>
          <a:prstGeom prst="roundRect">
            <a:avLst/>
          </a:prstGeom>
          <a:solidFill>
            <a:srgbClr val="111B21"/>
          </a:solidFill>
          <a:ln w="1270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85800" y="3438144"/>
            <a:ext cx="4114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9EDEF"/>
                </a:solidFill>
                <a:latin typeface="Calibri"/>
              </a:rPr>
              <a:t>GPT-4o-mini · OpenAI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438144"/>
            <a:ext cx="1737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9EDEF"/>
                </a:solidFill>
                <a:latin typeface="Calibri"/>
              </a:rPr>
              <a:t>R3 (~$0.15)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3438144"/>
            <a:ext cx="146303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9EDEF"/>
                </a:solidFill>
                <a:latin typeface="Calibri"/>
              </a:rPr>
              <a:t>200,000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3438144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9EDEF"/>
                </a:solidFill>
                <a:latin typeface="Calibri"/>
              </a:rPr>
              <a:t>Reliable production fallback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005072"/>
            <a:ext cx="11064240" cy="658368"/>
          </a:xfrm>
          <a:prstGeom prst="roundRect">
            <a:avLst/>
          </a:prstGeom>
          <a:solidFill>
            <a:srgbClr val="111B21"/>
          </a:solidFill>
          <a:ln w="1270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85800" y="4169663"/>
            <a:ext cx="4114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9EDEF"/>
                </a:solidFill>
                <a:latin typeface="Calibri"/>
              </a:rPr>
              <a:t>Claude Haiku 3.5 · Anthropic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4169663"/>
            <a:ext cx="1737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9EDEF"/>
                </a:solidFill>
                <a:latin typeface="Calibri"/>
              </a:rPr>
              <a:t>R5 (~$0.25)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4169663"/>
            <a:ext cx="146303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9EDEF"/>
                </a:solidFill>
                <a:latin typeface="Calibri"/>
              </a:rPr>
              <a:t>50,000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4169663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9EDEF"/>
                </a:solidFill>
                <a:latin typeface="Calibri"/>
              </a:rPr>
              <a:t>Strong maths reasoning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736592"/>
            <a:ext cx="11064240" cy="658368"/>
          </a:xfrm>
          <a:prstGeom prst="roundRect">
            <a:avLst/>
          </a:prstGeom>
          <a:solidFill>
            <a:srgbClr val="111B21"/>
          </a:solidFill>
          <a:ln w="1270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85800" y="4901183"/>
            <a:ext cx="4114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9EDEF"/>
                </a:solidFill>
                <a:latin typeface="Calibri"/>
              </a:rPr>
              <a:t>Qwen 3.6 27B · Groq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74920" y="4901183"/>
            <a:ext cx="1737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9EDEF"/>
                </a:solidFill>
                <a:latin typeface="Calibri"/>
              </a:rPr>
              <a:t>Free · dev tier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901183"/>
            <a:ext cx="146303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9EDEF"/>
                </a:solidFill>
                <a:latin typeface="Calibri"/>
              </a:rPr>
              <a:t>8,000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23960" y="4901183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9EDEF"/>
                </a:solidFill>
                <a:latin typeface="Calibri"/>
              </a:rPr>
              <a:t>Fastest inference, tight quota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468112"/>
            <a:ext cx="11064240" cy="658368"/>
          </a:xfrm>
          <a:prstGeom prst="roundRect">
            <a:avLst/>
          </a:prstGeom>
          <a:solidFill>
            <a:srgbClr val="FFB347"/>
          </a:solidFill>
          <a:ln w="12700">
            <a:solidFill>
              <a:srgbClr val="FFE9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85800" y="5632703"/>
            <a:ext cx="4114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3110D"/>
                </a:solidFill>
                <a:latin typeface="Calibri"/>
              </a:rPr>
              <a:t>Llama 4 / Qwen · Dell AI Factory NIM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74920" y="5632703"/>
            <a:ext cx="1737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3110D"/>
                </a:solidFill>
                <a:latin typeface="Calibri"/>
              </a:rPr>
              <a:t>Hardware only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86600" y="5632703"/>
            <a:ext cx="146303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3110D"/>
                </a:solidFill>
                <a:latin typeface="Calibri"/>
              </a:rPr>
              <a:t>self-hosted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23960" y="5632703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3110D"/>
                </a:solidFill>
                <a:latin typeface="Calibri"/>
              </a:rPr>
              <a:t>PRODUCTION · POPIA-sovereign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6172200"/>
            <a:ext cx="11064240" cy="502920"/>
          </a:xfrm>
          <a:prstGeom prst="roundRect">
            <a:avLst/>
          </a:prstGeom>
          <a:solidFill>
            <a:srgbClr val="111B21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85800" y="622706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CFF8C"/>
                </a:solidFill>
                <a:latin typeface="Calibri"/>
              </a:rPr>
              <a:t>MIGRATION PATH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6428232"/>
            <a:ext cx="10881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9EDEF"/>
                </a:solidFill>
                <a:latin typeface="Calibri"/>
              </a:rPr>
              <a:t>Pilot → Production is a 6-env-var swap. Same OpenAI-compatible API on every provider. Zero code changes. Zero downtime. Same day.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Integration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We don't compete with e-School. We complete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CFF8C"/>
                </a:solidFill>
                <a:latin typeface="Calibri"/>
              </a:rPr>
              <a:t>The gap in SA e-learning today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2108606" cy="1005840"/>
          </a:xfrm>
          <a:prstGeom prst="roundRect">
            <a:avLst/>
          </a:prstGeom>
          <a:solidFill>
            <a:srgbClr val="111B21"/>
          </a:solidFill>
          <a:ln w="1270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240279"/>
            <a:ext cx="192572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Vodacom e-School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192572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696A0"/>
                </a:solidFill>
                <a:latin typeface="Calibri"/>
              </a:rPr>
              <a:t>200k users · content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94406" y="2103120"/>
            <a:ext cx="2108606" cy="1005840"/>
          </a:xfrm>
          <a:prstGeom prst="roundRect">
            <a:avLst/>
          </a:prstGeom>
          <a:solidFill>
            <a:srgbClr val="111B21"/>
          </a:solidFill>
          <a:ln w="1270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885846" y="2240279"/>
            <a:ext cx="192572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DBE Kolibri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5846" y="2651760"/>
            <a:ext cx="192572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696A0"/>
                </a:solidFill>
                <a:latin typeface="Calibri"/>
              </a:rPr>
              <a:t>gov't content · quiet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40172" y="2103120"/>
            <a:ext cx="2108606" cy="1005840"/>
          </a:xfrm>
          <a:prstGeom prst="roundRect">
            <a:avLst/>
          </a:prstGeom>
          <a:solidFill>
            <a:srgbClr val="111B21"/>
          </a:solidFill>
          <a:ln w="1270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131612" y="2240279"/>
            <a:ext cx="192572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Siyavula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1612" y="2651760"/>
            <a:ext cx="192572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696A0"/>
                </a:solidFill>
                <a:latin typeface="Calibri"/>
              </a:rPr>
              <a:t>quizzes · commercial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5939" y="2103120"/>
            <a:ext cx="2108606" cy="1005840"/>
          </a:xfrm>
          <a:prstGeom prst="roundRect">
            <a:avLst/>
          </a:prstGeom>
          <a:solidFill>
            <a:srgbClr val="111B21"/>
          </a:solidFill>
          <a:ln w="1270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377379" y="2240279"/>
            <a:ext cx="192572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Snapplify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7379" y="2651760"/>
            <a:ext cx="192572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696A0"/>
                </a:solidFill>
                <a:latin typeface="Calibri"/>
              </a:rPr>
              <a:t>textbooks · paid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31705" y="2103120"/>
            <a:ext cx="2108606" cy="1005840"/>
          </a:xfrm>
          <a:prstGeom prst="roundRect">
            <a:avLst/>
          </a:prstGeom>
          <a:solidFill>
            <a:srgbClr val="111B21"/>
          </a:solidFill>
          <a:ln w="1270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23145" y="2240279"/>
            <a:ext cx="192572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WCED ePortal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23145" y="2651760"/>
            <a:ext cx="192572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696A0"/>
                </a:solidFill>
                <a:latin typeface="Calibri"/>
              </a:rPr>
              <a:t>provincial · content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2461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E9B8"/>
                </a:solidFill>
                <a:latin typeface="Calibri"/>
              </a:rPr>
              <a:t>None of them has a live 1-on-1 tutor. That's the layer we plug in.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023360"/>
            <a:ext cx="3544824" cy="1691640"/>
          </a:xfrm>
          <a:prstGeom prst="roundRect">
            <a:avLst/>
          </a:prstGeom>
          <a:solidFill>
            <a:srgbClr val="111B21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5800" y="4114800"/>
            <a:ext cx="3270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A884"/>
                </a:solidFill>
                <a:latin typeface="Calibri"/>
              </a:rPr>
              <a:t>Phase 1 · Months 1-2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434840"/>
            <a:ext cx="32705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Content ingestion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892040"/>
            <a:ext cx="32705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9EDEF"/>
                </a:solidFill>
                <a:latin typeface="Calibri"/>
              </a:rPr>
              <a:t>Index e-School CAPS content into RAG · every answer cites the e-School lesson it draws from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2064" y="4023360"/>
            <a:ext cx="3544824" cy="1691640"/>
          </a:xfrm>
          <a:prstGeom prst="roundRect">
            <a:avLst/>
          </a:prstGeom>
          <a:solidFill>
            <a:srgbClr val="111B21"/>
          </a:solidFill>
          <a:ln w="19050">
            <a:solidFill>
              <a:srgbClr val="FF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459224" y="4114800"/>
            <a:ext cx="3270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B347"/>
                </a:solidFill>
                <a:latin typeface="Calibri"/>
              </a:rPr>
              <a:t>Phase 2 · Months 2-4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9224" y="4434840"/>
            <a:ext cx="32705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API + widget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9224" y="4892040"/>
            <a:ext cx="32705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9EDEF"/>
                </a:solidFill>
                <a:latin typeface="Calibri"/>
              </a:rPr>
              <a:t>'Ask the tutor' button embedded in e-School · SSO from learner profile · same zero-rated network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5488" y="4023360"/>
            <a:ext cx="3544824" cy="1691640"/>
          </a:xfrm>
          <a:prstGeom prst="roundRect">
            <a:avLst/>
          </a:prstGeom>
          <a:solidFill>
            <a:srgbClr val="111B21"/>
          </a:solidFill>
          <a:ln w="19050">
            <a:solidFill>
              <a:srgbClr val="9CF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232648" y="4114800"/>
            <a:ext cx="3270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CFF8C"/>
                </a:solidFill>
                <a:latin typeface="Calibri"/>
              </a:rPr>
              <a:t>Phase 3 · Months 4-6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2648" y="4434840"/>
            <a:ext cx="32705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Analytics cross-flow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32648" y="4892040"/>
            <a:ext cx="32705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9EDEF"/>
                </a:solidFill>
                <a:latin typeface="Calibri"/>
              </a:rPr>
              <a:t>Where do learners get stuck? Feed EduConnect's misconception data back into e-School content roadmap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6263640"/>
            <a:ext cx="11064240" cy="411480"/>
          </a:xfrm>
          <a:prstGeom prst="roundRect">
            <a:avLst/>
          </a:prstGeom>
          <a:solidFill>
            <a:srgbClr val="111B21"/>
          </a:solidFill>
          <a:ln w="19050">
            <a:solidFill>
              <a:srgbClr val="FF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48640" y="6318503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E9B8"/>
                </a:solidFill>
                <a:latin typeface="Calibri"/>
              </a:rPr>
              <a:t>6 engineer-months to merge · ~R1.6M budget. Building the tutor inside Vodacom from scratch: 12–18 months · ~R15–25M. 10× cheaper to plug us in.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Why Vodacom wins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Purpose scores. Commercial wins. Both, in one bet.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3566160" cy="2057400"/>
          </a:xfrm>
          <a:prstGeom prst="roundRect">
            <a:avLst/>
          </a:prstGeom>
          <a:solidFill>
            <a:srgbClr val="111B21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85800" y="1920240"/>
            <a:ext cx="1554480" cy="32004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PURPOSE KPI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31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50M-by-2030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34639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9EDEF"/>
                </a:solidFill>
                <a:latin typeface="Calibri"/>
              </a:rPr>
              <a:t>Media-friendly, measurable slice of Vodafone Group's Purpose commitment. Every learner served = a countable data point in the annual report.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783080"/>
            <a:ext cx="3566160" cy="2057400"/>
          </a:xfrm>
          <a:prstGeom prst="roundRect">
            <a:avLst/>
          </a:prstGeom>
          <a:solidFill>
            <a:srgbClr val="111B21"/>
          </a:solidFill>
          <a:ln w="19050">
            <a:solidFill>
              <a:srgbClr val="FF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4434840" y="1920240"/>
            <a:ext cx="1554480" cy="32004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YOUTH CAC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331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25× cheaper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834639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9EDEF"/>
                </a:solidFill>
                <a:latin typeface="Calibri"/>
              </a:rPr>
              <a:t>R200k/yr LLM cost vs R5–8M/yr in ad spend to reach the same 100k SA teens. The network that helps you pass matric is the network you stay with for a decade.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783080"/>
            <a:ext cx="3566160" cy="2057400"/>
          </a:xfrm>
          <a:prstGeom prst="roundRect">
            <a:avLst/>
          </a:prstGeom>
          <a:solidFill>
            <a:srgbClr val="111B21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183879" y="1920240"/>
            <a:ext cx="1554480" cy="32004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BUNDLE REVENUE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2331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R1.5M/mo direct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2834639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9EDEF"/>
                </a:solidFill>
                <a:latin typeface="Calibri"/>
              </a:rPr>
              <a:t>100k learners × 30% conversion × R5/mo WhatsApp bundle. Zero marketing spend — the tutor itself drives the buy.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023360"/>
            <a:ext cx="3566160" cy="2057400"/>
          </a:xfrm>
          <a:prstGeom prst="roundRect">
            <a:avLst/>
          </a:prstGeom>
          <a:solidFill>
            <a:srgbClr val="111B21"/>
          </a:solidFill>
          <a:ln w="19050">
            <a:solidFill>
              <a:srgbClr val="FF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85800" y="4160520"/>
            <a:ext cx="1554480" cy="32004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USSD REV-SHARE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5720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Micro-revenue at scale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07492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9EDEF"/>
                </a:solidFill>
                <a:latin typeface="Calibri"/>
              </a:rPr>
              <a:t>Millions of USSD sessions per month, all through Vodacom core. Aggregator revenue share on education tier adds up faster than you'd expect.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79" y="4023360"/>
            <a:ext cx="3566160" cy="2057400"/>
          </a:xfrm>
          <a:prstGeom prst="roundRect">
            <a:avLst/>
          </a:prstGeom>
          <a:solidFill>
            <a:srgbClr val="111B21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434840" y="4160520"/>
            <a:ext cx="1554480" cy="32004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REGULATORY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5720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ICASA / DoC credit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507492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9EDEF"/>
                </a:solidFill>
                <a:latin typeface="Calibri"/>
              </a:rPr>
              <a:t>Rural + low-income service obligations are tightening every year. A live public-good tutor is worth millions in reduced license-condition friction.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19" y="4023360"/>
            <a:ext cx="3566160" cy="2057400"/>
          </a:xfrm>
          <a:prstGeom prst="roundRect">
            <a:avLst/>
          </a:prstGeom>
          <a:solidFill>
            <a:srgbClr val="111B21"/>
          </a:solidFill>
          <a:ln w="19050">
            <a:solidFill>
              <a:srgbClr val="FF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8183879" y="4160520"/>
            <a:ext cx="1554480" cy="32004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DATA INSIGHTS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45720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VBS upsell fuel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507492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9EDEF"/>
                </a:solidFill>
                <a:latin typeface="Calibri"/>
              </a:rPr>
              <a:t>Anonymised learner-interaction patterns are gold for Vodacom Business Solutions when pitching education contracts to DBE, WCED, GDE.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6263640"/>
            <a:ext cx="11064240" cy="411480"/>
          </a:xfrm>
          <a:prstGeom prst="roundRect">
            <a:avLst/>
          </a:prstGeom>
          <a:solidFill>
            <a:srgbClr val="111B21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48640" y="6318503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9CFF8C"/>
                </a:solidFill>
                <a:latin typeface="Calibri"/>
              </a:rPr>
              <a:t>R1.5M/mo bundle uplift · 25× cheaper youth CAC · a media-worthy Purpose story — for less than the cost of a Sunday-supplement print ad.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B347"/>
                </a:solidFill>
                <a:latin typeface="Calibri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What we need to go from finalist to pilot.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182880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Dell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251460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9EDEF"/>
                </a:solidFill>
                <a:latin typeface="Calibri"/>
              </a:rPr>
              <a:t>AI Factory hardware sponsorship + NIM endpoints (reasoning LLM + vision VLM in country).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46120"/>
            <a:ext cx="182880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Vodacom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32918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9EDEF"/>
                </a:solidFill>
                <a:latin typeface="Calibri"/>
              </a:rPr>
              <a:t>WhatsApp Business Cloud number whitelisted for zero-rating; USSD shortcode partnership.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23360"/>
            <a:ext cx="182880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DBE / Province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406908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9EDEF"/>
                </a:solidFill>
                <a:latin typeface="Calibri"/>
              </a:rPr>
              <a:t>Pilot endorsement at 5 schools across 2 provinces. Anonymous outcome data sharing.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800600"/>
            <a:ext cx="182880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Educators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48463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9EDEF"/>
                </a:solidFill>
                <a:latin typeface="Calibri"/>
              </a:rPr>
              <a:t>4–6 practising SA Maths teachers (multi-lingual) to form the advisory board.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696A0"/>
                </a:solidFill>
                <a:latin typeface="Consolas"/>
              </a:rPr>
              <a:t>github.com/snerantie/Dell-Prototype---AI-Integration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