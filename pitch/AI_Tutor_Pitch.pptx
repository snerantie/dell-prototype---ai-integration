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EduConnect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 (design supports zero-rating; formal partnership is the ask, not something we're claiming as delivered).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EduConnect AI Tutor is a CAPS-aligned multilingual tutor that meets every learner — smartphone or feature phone — where they are. Powered by Dell AI Factory. Zero-rated on Vodacom (design supports zero-rating; formal partnership is the ask, not something we're claiming as delivered).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EduConnect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GPT-OSS 120B is OpenAI's open-weight family — same architectural bet as the Llama choice: open-weight, Apache 2.0, self-hostable on Dell. Groq is our pilot host (free tier). Dell AI Factory NIM is our production host. Same API contract on both sides — swap via one env var. The RAW model isn't CAPS-aligned by itself — the next slide shows how we wrap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judges remember. Four layers, additive not exclusive. Layer 1 (green, foundation) is LIVE today — every LLM call is prefixed with ~4.4 KB of CAPS conventions. Layer 2 is 3-5 hours of work. Layer 3 (RAG over DBE CAPS PDF) is what Dell sponsorship unlocks. Layer 4 (LoRA fine-tune on Dell hardware) is the long-term moat. The right column shows the concrete before/after so non-technical judges can see the difference — a raw LLM gives an American-decimal answer; the CAPS-wrapped version has NSC mark codes, exact form (x = -½ not -0.5), and cites the CAPS topic. That's un-replicable by a Groq or ChatGPT wrapper.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request path in production. Green = deterministic guarantees, orange = channel-specific, panel-grey = generic infrastructure. The 5-pill router row is the KEY design decision: not everything hits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the split. Left column = shipped today, real code in the repo. Right column = designed but not yet implemented — each item is 1–2 days of engineering and deliberately deferred until Vodacom's DPO tells us their preferred hosting, retention policy, and DPA template. Do NOT claim 'POPIA-aligned' as delivered — the ARCHITECTURE is POPIA-aligned; the compliance sign-off comes in Phase 1. The image classifier is Phase 1 work; today we accept any image and pass it to the vision model with a curriculum-bounded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R2/learner/year number is the pitch's killer stat. Break it down so the CFO in the room can audit it. Costs are today's Gemini Flash-Lite pilot pricing — they DROP to ~R0.80 on Dell AI Factory NIM (hardware-only cost, no per-token bill). The private-tutor comparison isn't hypothetical — R250-500/hour × ~60 hours/year is the going rate in SA. The break-even framing is roadmap, not shipped: we haven't run the pilot yet, so uplift is a target, not a claim. Rehearse the R2-vs-R16,000 line — that's the mic 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swap-ability slide. Every provider we list exposes an OpenAI-compatible /chat/completions endpoint, so switching is literally 6 env vars: base URL, key, model name for reasoning, vision, translation, and embedding. Today we run Gemini 3.5 Flash-Lite in the pilot — it's the cheapest and hits SA latency. Production endpoint is Dell AI Factory NIM: hardware cost only, POPIA-sovereign, no per-token bill. GPT-4o-mini and Claude Haiku are named fallbacks so procurement doesn't panic about vendor-lock. Roadmap, not shipped: the Dell NIM row is what we're asking Dell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'we complete e-School, we don't compete with it.' The 5 landscape tiles cover the current SA e-learning offer — content-heavy, no live 1-on-1. That's our lane. The 3-phase timeline is a proposal for Vodacom — Phase 1 is 60 days of content ingestion (RAG on e-School lessons), Phase 2 is a widget embed with SSO, Phase 3 is the analytics loop. Be explicit: this is a proposed integration path, not a signed workstream. The 10×-cheaper number is a rough ROI estimate — anchor it, don't over-defend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mic-drop slide for the Vodacom room. Six reasons, three of them commercial (bundle revenue, USSD rev-share, VBS data insights), three of them positional (Purpose KPI, youth CAC, regulatory). REHEARSE the bottom banner out loud — 'R1.5M/mo bundle uplift, 25× cheaper CAC, media-worthy Purpose story, for less than a Sunday-supplement ad' — that's the line that lands. Be careful: all the numbers here are projections not signed commitments. R1.5M/mo assumes 30% conversion (industry avg for bundled telco add-ons; we don't have real data yet). The 25× CAC figure compares against Vodacom's public youth-marketing spend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Zero-rate-ready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Zero-rate-ready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Vodacom WhatsApp bundle R5/mo · zero-rate-ready via Purpose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Effectively zero-rated via aggregator education tier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GPT-OSS 120B (Dell NIM)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Llama 4 Scout (Dell NIM)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Same LLM, 11 SA languages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AI/LLM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Sovereign, open-weight, swap-able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Text Reasoning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57800" cy="5486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🧠 openai/gpt-oss-120b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120B params, mixture-of-experts, open-weight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Apache 2.0 · self-hostable on Dell hardware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Handles: factorisation, trig, calculus, Socratic dialogue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Wrapped by CAPS system prompts (NSC mark codes)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(~500 tok/s, free tier)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 (in-country)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Vision / Multimodal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468880"/>
            <a:ext cx="5257800" cy="5486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👁️ Meta Llama 4 Scout 17B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Multimodal — text + image in one endpoint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Reads geometry diagrams, handwritten working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Textbook page snapshots, whiteboard photos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Same OpenAI-compatible API as reasoning LLM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(free)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989320"/>
            <a:ext cx="11064240" cy="5486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6080759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alibri"/>
              </a:rPr>
              <a:t>Why open-weight Llama over GPT-4/Claude/Gemini: POPIA sovereignty · no vendor lock-in · zero pilot cost · fully auditable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CAPS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AI stays faithful to the DBE curriculum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583680" cy="868680"/>
          </a:xfrm>
          <a:prstGeom prst="roundRect">
            <a:avLst/>
          </a:prstGeom>
          <a:solidFill>
            <a:srgbClr val="1A2A33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4 · Fine-tune on Dell AI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LoRA on gpt-oss-120b, trained on educator-reviewed pilot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201167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8696A0"/>
                </a:solidFill>
              </a:rPr>
              <a:t>POST-PILOT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6583680" cy="868680"/>
          </a:xfrm>
          <a:prstGeom prst="roundRect">
            <a:avLst/>
          </a:prstGeom>
          <a:solidFill>
            <a:srgbClr val="1D303C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3 · RAG over DBE CAPS PDF + NSC past 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Retrieval-augmented generation · in-country vector DB · cite section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017520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SPONSORED 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6583680" cy="868680"/>
          </a:xfrm>
          <a:prstGeom prst="roundRect">
            <a:avLst/>
          </a:prstGeom>
          <a:solidFill>
            <a:srgbClr val="213845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37947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2 · Curriculum knowledge base + topic classifier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3308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Grade × topic scope + sub-skills injected into every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2335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NEXT SPRINT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79"/>
            <a:ext cx="6583680" cy="868680"/>
          </a:xfrm>
          <a:prstGeom prst="roundRect">
            <a:avLst/>
          </a:prstGeom>
          <a:solidFill>
            <a:srgbClr val="00A884"/>
          </a:solidFill>
          <a:ln w="2540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80059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3110D"/>
                </a:solidFill>
                <a:latin typeface="Calibri"/>
              </a:rPr>
              <a:t>★ Layer 1 · CAPS system-prompt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3892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NSC (M)/(A)/(CA) mark codes · exact-form notation · DBE phrasing · grade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5029199"/>
            <a:ext cx="1554480" cy="36576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9CFF8C"/>
                </a:solidFill>
              </a:rPr>
              <a:t>★ LIVE 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373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96A0"/>
                </a:solidFill>
                <a:latin typeface="Calibri"/>
              </a:rPr>
              <a:t>Before Layer 1 (raw LLM)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148840"/>
            <a:ext cx="4160520" cy="150876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0" y="22402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Solve 2x² − 5x − 3 = 0
Using the quadratic formula,
x = (5 ± √49) / 4
So x = 3 or x = −0.5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7947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FF8C"/>
                </a:solidFill>
                <a:latin typeface="Calibri"/>
              </a:rPr>
              <a:t>After Layer 1 (CAPS-wrapped)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206240"/>
            <a:ext cx="4160520" cy="1965960"/>
          </a:xfrm>
          <a:prstGeom prst="roundRect">
            <a:avLst/>
          </a:prstGeom>
          <a:solidFill>
            <a:srgbClr val="111B21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0" y="4297680"/>
            <a:ext cx="3886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FF8C"/>
                </a:solidFill>
                <a:latin typeface="Calibri"/>
              </a:rPr>
              <a:t>Solve for x:  2x² − 5x − 3 = 0
b² − 4ac = 25 + 24 = 49    (M)
x = (5 ± √49) / (2·2)        (M)
x = 3  or  x = −½            (A)(A)
(CAPS Grade 11 — Quadratic equations)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Same model. Same question. CAPS-wrapped answers are what NSC markers actually score — that's the moat.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Architecture ·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One request,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160020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1 · Learner input  ·  WhatsApp / USSD /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92807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text · photo · PDF/DOCX · quick-reply button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103120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2322576"/>
            <a:ext cx="5760720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2368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2 · Channel handler  ·  app/channels/*.py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61518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Normalises to InboundMessage schema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825496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3044952"/>
            <a:ext cx="5760720" cy="50292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3090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3 · Tutor Engine  ·  app/tutor/engine.py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33756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Routes by input type · session state · language / grade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43600" y="3547872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3767328"/>
            <a:ext cx="5760720" cy="68580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91840" y="380390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CFF8C"/>
                </a:solidFill>
                <a:latin typeface="Calibri"/>
              </a:rPr>
              <a:t>4 · Router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4023360"/>
            <a:ext cx="1071676" cy="182880"/>
          </a:xfrm>
          <a:prstGeom prst="round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📝 Past-paper?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canonical answer + memo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7524" y="4023360"/>
            <a:ext cx="1071676" cy="182880"/>
          </a:xfrm>
          <a:prstGeom prst="roundRect">
            <a:avLst/>
          </a:prstGeom>
          <a:solidFill>
            <a:srgbClr val="66B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🧮 Arithmetic?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7524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deterministic evaluator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44921" y="4023360"/>
            <a:ext cx="1071676" cy="1828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🔤 Equation?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4921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math_analyzer (Python)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2318" y="4023360"/>
            <a:ext cx="1071676" cy="182880"/>
          </a:xfrm>
          <a:prstGeom prst="roundRect">
            <a:avLst/>
          </a:prstGeom>
          <a:solidFill>
            <a:srgbClr val="C8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🖼️ Image?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231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vision 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9715" y="4023360"/>
            <a:ext cx="1071676" cy="1828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📄 Doc?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9715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PDF/DOCX → LLM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43600" y="4453128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4672584"/>
            <a:ext cx="5760720" cy="50292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4718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5 · AI Providers  ·  app/providers/*.py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96519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CFF8C"/>
                </a:solidFill>
                <a:latin typeface="Calibri"/>
              </a:rPr>
              <a:t>Reasoning · Vision · Translation (all pluggable)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718304"/>
            <a:ext cx="2880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Groq / Dell AI Factory NIM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961120" y="4832604"/>
            <a:ext cx="274320" cy="18288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5943600" y="5175504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200400" y="539496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37560" y="5440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6 · Response back to learner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68756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TutorResponse → Channel serialiser → learner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Every layer swappable · Every input format supported · No hallucination on deterministic maths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Near-zero learner cost · zero-rate-ready on Vodacom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Cybersecurity &amp; data protection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POPIA-aligned. SA-hostable. Learner-safe by design.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737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Built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20240"/>
            <a:ext cx="292608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Ships in Phase 1 with Vodacom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HTTPS everywhere (TLS 1.3 via Render)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Minimal PII: phone + grade + language only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No password / no account → no credential to steal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Platform-level content filter (violence/CSAM auto-blocked)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Rate-limiter + in-flight lock (spam-resistant)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Structured errors — never leaks keys / DB paths / stack traces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Analytics logs the FACT of interaction, never raw learner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146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POPIA consent flow (U18 parental gate)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Encryption at rest (PostgreSQL, column-level)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SA data residency (Vodacom Cloud or Dell AI Factory SA)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7-year immutable audit trail (POPIA retention)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Crisis-keyword detector + safeguarding-lead escalation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Non-maths image classifier — refuses off-topic uploads politely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Named DPO alignment + Data Processing Agreement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All right-side items are 1–2 day engineering tasks. Deliberately deferred to align with Vodacom's DPO framework and hosting choice.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R2 per learner per year. At scale.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1064240" cy="12344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COST PER LEARNER /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9CFF8C"/>
                </a:solidFill>
                <a:latin typeface="Calibri"/>
              </a:rPr>
              <a:t>≈ 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6720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100,000 LEARNERS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6720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≈ R200k / 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PRIVATE TUTOR EQUIV.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E9B8"/>
                </a:solidFill>
                <a:latin typeface="Calibri"/>
              </a:rPr>
              <a:t>R16,000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CFF8C"/>
                </a:solidFill>
                <a:latin typeface="Calibri"/>
              </a:rPr>
              <a:t>What makes up the 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LLM tokens (Gemini Flash-Lite): ~R1.10 / learner / yr</a:t>
            </a:r>
          </a:p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USSD aggregator (per session): ~R0.40 / learner / yr</a:t>
            </a:r>
          </a:p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WhatsApp Cloud API + hosting: ~R0.30 / learner / yr</a:t>
            </a:r>
          </a:p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Analytics + monitoring + SMS OTP: ~R0.20 / learner / yr</a:t>
            </a:r>
          </a:p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Assumes: ~100 sessions/learner/year, mixed channels</a:t>
            </a:r>
          </a:p>
          <a:p>
            <a:pPr algn="l">
              <a:spcBef>
                <a:spcPts val="5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At production scale on Dell AI Factory NIM: ~R0.80 / 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CFF8C"/>
                </a:solidFill>
                <a:latin typeface="Calibri"/>
              </a:rPr>
              <a:t>ROI vs. what SA learners have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794760"/>
            <a:ext cx="28346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Private tutor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794760"/>
            <a:ext cx="23774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R16,000 / yr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343400"/>
            <a:ext cx="28346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Extra textbook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343400"/>
            <a:ext cx="23774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R400 (one-off)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892040"/>
            <a:ext cx="28346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Nothing (status quo)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4892040"/>
            <a:ext cx="23774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R0 · fails 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440679"/>
            <a:ext cx="28346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E9EDEF"/>
                </a:solidFill>
              </a:rPr>
              <a:t>EduConnect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5440679"/>
            <a:ext cx="23774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R2 / 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E9B8"/>
                </a:solidFill>
                <a:latin typeface="Calibri"/>
              </a:rPr>
              <a:t>1 extra matric pass generates ~R150k lifetime earnings uplift. Break-even at ~1 additional pass per 75,000 learners 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 model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brain. Four provider options. Zero rewrites.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696A0"/>
                </a:solidFill>
                <a:latin typeface="Calibri"/>
              </a:rPr>
              <a:t>Real-time options (all OpenAI-compatible — no code changes to switch)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11064240" cy="41148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Provider ·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1305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Cost / 1M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13055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TPM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1305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Best for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2032"/>
            <a:ext cx="11064240" cy="658368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2706624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Gemini 3.5 Flash-Lite · 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706624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R2 (~$0.10)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706624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250,000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706624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PILOT · what we run today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7355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" y="3438144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GPT-4o-mini · OpenAI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438144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R3 (~$0.15)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200,000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438144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Reliable production fallback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0507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416966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Claude Haiku 3.5 · Anthropic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16966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R5 (~$0.25)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16966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1696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Strong maths reasoning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3659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" y="490118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Qwen 3.6 27B · Groq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90118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Free · dev 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90118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8,000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490118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Fastest inference, tight quota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68112"/>
            <a:ext cx="11064240" cy="658368"/>
          </a:xfrm>
          <a:prstGeom prst="roundRect">
            <a:avLst/>
          </a:prstGeom>
          <a:solidFill>
            <a:srgbClr val="FFB347"/>
          </a:solidFill>
          <a:ln w="12700">
            <a:solidFill>
              <a:srgbClr val="FFE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563270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Llama 4 / Qwen · Dell AI Factory NIM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563270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Hardware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63270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self-hosted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563270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PRODUCTION · POPIA-sovereign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72200"/>
            <a:ext cx="11064240" cy="50292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6227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FF8C"/>
                </a:solidFill>
                <a:latin typeface="Calibri"/>
              </a:rPr>
              <a:t>MIGRATION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28232"/>
            <a:ext cx="10881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Pilot → Production is a 6-env-var swap. Same OpenAI-compatible API on every provider. Zero code changes. Zero downtime. Same 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Integration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We don't compete with e-School. We complete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CFF8C"/>
                </a:solidFill>
                <a:latin typeface="Calibri"/>
              </a:rPr>
              <a:t>The gap in SA e-learning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Vodacom e-School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200k users · content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4406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85846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DBE Kolibri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5846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gov't content ·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0172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31612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Siyavula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1612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quizzes · commercial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5939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77379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Snapplify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7379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textbooks · paid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1705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23145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WCED ePortal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3145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provincial ·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E9B8"/>
                </a:solidFill>
                <a:latin typeface="Calibri"/>
              </a:rPr>
              <a:t>None of them has a live 1-on-1 tutor. That's the layer we plug 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A884"/>
                </a:solidFill>
                <a:latin typeface="Calibri"/>
              </a:rPr>
              <a:t>Phase 1 · Months 1-2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Content 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Index e-School CAPS content into RAG · every answer cites the e-School lesson it draws from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2064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59224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347"/>
                </a:solidFill>
                <a:latin typeface="Calibri"/>
              </a:rPr>
              <a:t>Phase 2 · Months 2-4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9224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API + widget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9224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'Ask the tutor' button embedded in e-School · SSO from learner profile · same zero-rated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5488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32648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FF8C"/>
                </a:solidFill>
                <a:latin typeface="Calibri"/>
              </a:rPr>
              <a:t>Phase 3 · Months 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2648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Analytics cross-flow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2648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Where do learners get stuck? Feed EduConnect's misconception data back into e-School content roadmap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E9B8"/>
                </a:solidFill>
                <a:latin typeface="Calibri"/>
              </a:rPr>
              <a:t>6 engineer-months to merge · ~R1.6M budget. Building the tutor inside Vodacom from scratch: 12–18 months · ~R15–25M. 10× cheaper to plug us 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Vodacom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Purpose scores. Commercial wins. Both, in one bet.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PURPOSE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50M-by-2030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Media-friendly, measurable slice of Vodafone Group's Purpose commitment. Every learner served = a countable data point in the annual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434840" y="192024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YOUTH CAC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25× cheaper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R200k/yr LLM cost vs R5–8M/yr in ad spend to reach the same 100k SA teens. The network that helps you pass matric is the network you stay with for a decade.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183879" y="192024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BUNDLE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R1.5M/mo direct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100k learners × 30% conversion × R5/mo WhatsApp bundle. Zero marketing spend — the tutor itself drives the buy.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85800" y="416052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USSD REV-SHARE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Micro-revenue at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Millions of USSD sessions per month, all through Vodacom core. Aggregator revenue share on education tier adds up faster than you'd expect.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434840" y="416052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REGULATORY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ICASA / DoC credit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Rural + low-income service obligations are tightening every year. A live public-good tutor is worth millions in reduced license-condition friction.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183879" y="416052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DATA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VBS upsell fuel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Anonymised learner-interaction patterns are gold for Vodacom Business Solutions when pitching education contracts to DBE, WCED, GDE.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R1.5M/mo bundle uplift · 25× cheaper youth CAC · a media-worthy Purpose story — for less than the cost of a Sunday-supplement print 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